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engineer has a messy scratchpad of brain dumps, uncommitted thoughts, and half-finished tasks. But you cannot paste proprietary code or private sprint notes into cloud LLMs without risking intellectual property leaks. MemSync delivers the intelligence of an AI executive assistant with the absolute security of an air-gapped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MemSync is an edge-orchestrated copilot. It runs a 1.5B quantized model locally using Ollama on standard 8GB RAM laptops, paired with a sub-5ms heuristic fallback and native SQLite. You get zero cloud leakage, zero latency spikes, and 100% offline availability.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Unlike passive to-do lists that become graveyard lists, MemSync is powered by BJ Foggs Tiny Habits protocol. It parses raw notes into Anchor-Action-Celebration triplets. When you close a Git branch, MemSync cues you to run tests and reinforces the habit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zero token costs, sub-millisecond local queries, and a 30-day streak engine, MemSync bridges intent and execution—privately and locally.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1D"/>
        </a:solidFill>
      </p:bgPr>
    </p:bg>
    <p:spTree>
      <p:nvGrpSpPr>
        <p:cNvPr id="1" name=""/>
        <p:cNvGrpSpPr/>
        <p:nvPr/>
      </p:nvGrpSpPr>
      <p:grpSpPr>
        <a:xfrm>
          <a:off x="0" y="0"/>
          <a:ext cx="0" cy="0"/>
          <a:chOff x="0" y="0"/>
          <a:chExt cx="0" cy="0"/>
        </a:xfrm>
      </p:grpSpPr>
      <p:sp>
        <p:nvSpPr>
          <p:cNvPr id="2" name="Text 0"/>
          <p:cNvSpPr/>
          <p:nvPr/>
        </p:nvSpPr>
        <p:spPr>
          <a:xfrm>
            <a:off x="731520" y="457200"/>
            <a:ext cx="7772400" cy="320040"/>
          </a:xfrm>
          <a:prstGeom prst="rect">
            <a:avLst/>
          </a:prstGeom>
          <a:noFill/>
          <a:ln/>
        </p:spPr>
        <p:txBody>
          <a:bodyPr wrap="square" rtlCol="0" anchor="ctr"/>
          <a:lstStyle/>
          <a:p>
            <a:pPr indent="0" marL="0">
              <a:buNone/>
            </a:pPr>
            <a:r>
              <a:rPr lang="en-US" sz="1000" b="1" spc="200" kern="0" dirty="0">
                <a:solidFill>
                  <a:srgbClr val="38BDF8"/>
                </a:solidFill>
                <a:latin typeface="Segoe UI" pitchFamily="34" charset="0"/>
                <a:ea typeface="Segoe UI" pitchFamily="34" charset="-122"/>
                <a:cs typeface="Segoe UI" pitchFamily="34" charset="-120"/>
              </a:rPr>
              <a:t>HACKATHON PITCH DECK • EDGE AI &amp; BEHAVIORAL ENGINEERING</a:t>
            </a:r>
            <a:endParaRPr lang="en-US" sz="1000" dirty="0"/>
          </a:p>
        </p:txBody>
      </p:sp>
      <p:sp>
        <p:nvSpPr>
          <p:cNvPr id="3" name="Text 1"/>
          <p:cNvSpPr/>
          <p:nvPr/>
        </p:nvSpPr>
        <p:spPr>
          <a:xfrm>
            <a:off x="731520" y="777240"/>
            <a:ext cx="10698480" cy="640080"/>
          </a:xfrm>
          <a:prstGeom prst="rect">
            <a:avLst/>
          </a:prstGeom>
          <a:noFill/>
          <a:ln/>
        </p:spPr>
        <p:txBody>
          <a:bodyPr wrap="square" rtlCol="0" anchor="ctr"/>
          <a:lstStyle/>
          <a:p>
            <a:pPr indent="0" marL="0">
              <a:buNone/>
            </a:pPr>
            <a:r>
              <a:rPr lang="en-US" sz="2600" b="1" dirty="0">
                <a:solidFill>
                  <a:srgbClr val="FFFFFF"/>
                </a:solidFill>
                <a:latin typeface="Segoe UI" pitchFamily="34" charset="0"/>
                <a:ea typeface="Segoe UI" pitchFamily="34" charset="-122"/>
                <a:cs typeface="Segoe UI" pitchFamily="34" charset="-120"/>
              </a:rPr>
              <a:t>MemSync: Edge-Orchestrated Habit &amp; Workflow Copilot</a:t>
            </a:r>
            <a:endParaRPr lang="en-US" sz="2600" dirty="0"/>
          </a:p>
        </p:txBody>
      </p:sp>
      <p:sp>
        <p:nvSpPr>
          <p:cNvPr id="4" name="Text 2"/>
          <p:cNvSpPr/>
          <p:nvPr/>
        </p:nvSpPr>
        <p:spPr>
          <a:xfrm>
            <a:off x="731520" y="1417320"/>
            <a:ext cx="10698480" cy="320040"/>
          </a:xfrm>
          <a:prstGeom prst="rect">
            <a:avLst/>
          </a:prstGeom>
          <a:noFill/>
          <a:ln/>
        </p:spPr>
        <p:txBody>
          <a:bodyPr wrap="square" rtlCol="0" anchor="ctr"/>
          <a:lstStyle/>
          <a:p>
            <a:pPr indent="0" marL="0">
              <a:buNone/>
            </a:pPr>
            <a:r>
              <a:rPr lang="en-US" sz="1200" dirty="0">
                <a:solidFill>
                  <a:srgbClr val="94A3B8"/>
                </a:solidFill>
                <a:latin typeface="Segoe UI" pitchFamily="34" charset="0"/>
                <a:ea typeface="Segoe UI" pitchFamily="34" charset="-122"/>
                <a:cs typeface="Segoe UI" pitchFamily="34" charset="-120"/>
              </a:rPr>
              <a:t>Where High-Velocity Engineering Meets the Cloud Privacy Wall — 100% On-Device, Zero Cloud Leakage</a:t>
            </a:r>
            <a:endParaRPr lang="en-US" sz="1200" dirty="0"/>
          </a:p>
        </p:txBody>
      </p:sp>
      <p:sp>
        <p:nvSpPr>
          <p:cNvPr id="5" name="Shape 3"/>
          <p:cNvSpPr/>
          <p:nvPr/>
        </p:nvSpPr>
        <p:spPr>
          <a:xfrm>
            <a:off x="731520" y="1920240"/>
            <a:ext cx="5120640" cy="3291840"/>
          </a:xfrm>
          <a:prstGeom prst="roundRect">
            <a:avLst>
              <a:gd name="adj" fmla="val 2778"/>
            </a:avLst>
          </a:prstGeom>
          <a:solidFill>
            <a:srgbClr val="111827"/>
          </a:solidFill>
          <a:ln w="19050">
            <a:solidFill>
              <a:srgbClr val="F43F5E"/>
            </a:solidFill>
            <a:prstDash val="solid"/>
          </a:ln>
        </p:spPr>
      </p:sp>
      <p:sp>
        <p:nvSpPr>
          <p:cNvPr id="6" name="Text 4"/>
          <p:cNvSpPr/>
          <p:nvPr/>
        </p:nvSpPr>
        <p:spPr>
          <a:xfrm>
            <a:off x="960120" y="2057400"/>
            <a:ext cx="4663440" cy="274320"/>
          </a:xfrm>
          <a:prstGeom prst="rect">
            <a:avLst/>
          </a:prstGeom>
          <a:noFill/>
          <a:ln/>
        </p:spPr>
        <p:txBody>
          <a:bodyPr wrap="square" rtlCol="0" anchor="ctr"/>
          <a:lstStyle/>
          <a:p>
            <a:pPr indent="0" marL="0">
              <a:buNone/>
            </a:pPr>
            <a:r>
              <a:rPr lang="en-US" sz="1100" b="1" dirty="0">
                <a:solidFill>
                  <a:srgbClr val="F43F5E"/>
                </a:solidFill>
                <a:latin typeface="Segoe UI" pitchFamily="34" charset="0"/>
                <a:ea typeface="Segoe UI" pitchFamily="34" charset="-122"/>
                <a:cs typeface="Segoe UI" pitchFamily="34" charset="-120"/>
              </a:rPr>
              <a:t>🚨 THE CORE PROBLEM: CLOUD LEAKAGE &amp; FRAGMENTATION</a:t>
            </a:r>
            <a:endParaRPr lang="en-US" sz="1100" dirty="0"/>
          </a:p>
        </p:txBody>
      </p:sp>
      <p:sp>
        <p:nvSpPr>
          <p:cNvPr id="7" name="Text 5"/>
          <p:cNvSpPr/>
          <p:nvPr/>
        </p:nvSpPr>
        <p:spPr>
          <a:xfrm>
            <a:off x="960120" y="2423160"/>
            <a:ext cx="4663440" cy="2606040"/>
          </a:xfrm>
          <a:prstGeom prst="rect">
            <a:avLst/>
          </a:prstGeom>
          <a:noFill/>
          <a:ln/>
        </p:spPr>
        <p:txBody>
          <a:bodyPr wrap="square" rtlCol="0" anchor="ctr"/>
          <a:lstStyle/>
          <a:p>
            <a:pPr indent="0" marL="0">
              <a:lnSpc>
                <a:spcPct val="115000"/>
              </a:lnSpc>
              <a:buNone/>
            </a:pPr>
            <a:r>
              <a:rPr lang="en-US" sz="1000" b="1" dirty="0">
                <a:solidFill>
                  <a:srgbClr val="FFFFFF"/>
                </a:solidFill>
                <a:latin typeface="Segoe UI" pitchFamily="34" charset="0"/>
                <a:ea typeface="Segoe UI" pitchFamily="34" charset="-122"/>
                <a:cs typeface="Segoe UI" pitchFamily="34" charset="-120"/>
              </a:rPr>
              <a:t>Context Fragmentation: </a:t>
            </a:r>
            <a:pPr indent="0" marL="0">
              <a:lnSpc>
                <a:spcPct val="115000"/>
              </a:lnSpc>
              <a:buNone/>
            </a:pPr>
            <a:r>
              <a:rPr lang="en-US" sz="1000" dirty="0">
                <a:solidFill>
                  <a:srgbClr val="E2E8F0"/>
                </a:solidFill>
                <a:latin typeface="Segoe UI" pitchFamily="34" charset="0"/>
                <a:ea typeface="Segoe UI" pitchFamily="34" charset="-122"/>
                <a:cs typeface="Segoe UI" pitchFamily="34" charset="-120"/>
              </a:rPr>
              <a:t>Devs capture unorganized daily thoughts across raw scratchpads, terminal logs, Slack threads, and markdown notes. Converting dumps into tasks is manual and high-friction.
</a:t>
            </a:r>
            <a:pPr indent="0" marL="0">
              <a:lnSpc>
                <a:spcPct val="115000"/>
              </a:lnSpc>
              <a:buNone/>
            </a:pPr>
            <a:r>
              <a:rPr lang="en-US" sz="1000" b="1" dirty="0">
                <a:solidFill>
                  <a:srgbClr val="FFFFFF"/>
                </a:solidFill>
                <a:latin typeface="Segoe UI" pitchFamily="34" charset="0"/>
                <a:ea typeface="Segoe UI" pitchFamily="34" charset="-122"/>
                <a:cs typeface="Segoe UI" pitchFamily="34" charset="-120"/>
              </a:rPr>
              <a:t>The Cloud Leakage Dilemma: </a:t>
            </a:r>
            <a:pPr indent="0" marL="0">
              <a:lnSpc>
                <a:spcPct val="115000"/>
              </a:lnSpc>
              <a:buNone/>
            </a:pPr>
            <a:r>
              <a:rPr lang="en-US" sz="1000" dirty="0">
                <a:solidFill>
                  <a:srgbClr val="E2E8F0"/>
                </a:solidFill>
                <a:latin typeface="Segoe UI" pitchFamily="34" charset="0"/>
                <a:ea typeface="Segoe UI" pitchFamily="34" charset="-122"/>
                <a:cs typeface="Segoe UI" pitchFamily="34" charset="-120"/>
              </a:rPr>
              <a:t>Standard AI copilots (Notion AI, Copilot) require sending proprietary code, git diffs, and personal notes to remote cloud LLM endpoints.
</a:t>
            </a:r>
            <a:pPr indent="0" marL="0">
              <a:lnSpc>
                <a:spcPct val="115000"/>
              </a:lnSpc>
              <a:buNone/>
            </a:pPr>
            <a:r>
              <a:rPr lang="en-US" sz="1000" b="1" dirty="0">
                <a:solidFill>
                  <a:srgbClr val="FFFFFF"/>
                </a:solidFill>
                <a:latin typeface="Segoe UI" pitchFamily="34" charset="0"/>
                <a:ea typeface="Segoe UI" pitchFamily="34" charset="-122"/>
                <a:cs typeface="Segoe UI" pitchFamily="34" charset="-120"/>
              </a:rPr>
              <a:t>Strict Enterprise Compliance: </a:t>
            </a:r>
            <a:pPr indent="0" marL="0">
              <a:lnSpc>
                <a:spcPct val="115000"/>
              </a:lnSpc>
              <a:buNone/>
            </a:pPr>
            <a:r>
              <a:rPr lang="en-US" sz="1000" dirty="0">
                <a:solidFill>
                  <a:srgbClr val="E2E8F0"/>
                </a:solidFill>
                <a:latin typeface="Segoe UI" pitchFamily="34" charset="0"/>
                <a:ea typeface="Segoe UI" pitchFamily="34" charset="-122"/>
                <a:cs typeface="Segoe UI" pitchFamily="34" charset="-120"/>
              </a:rPr>
              <a:t>SOC2, HIPAA, and IP NDAs strictly prohibit transmitting unvetted developer workspace data to 3rd-party cloud providers.</a:t>
            </a:r>
            <a:endParaRPr lang="en-US" sz="1000" dirty="0"/>
          </a:p>
        </p:txBody>
      </p:sp>
      <p:sp>
        <p:nvSpPr>
          <p:cNvPr id="8" name="Shape 6"/>
          <p:cNvSpPr/>
          <p:nvPr/>
        </p:nvSpPr>
        <p:spPr>
          <a:xfrm>
            <a:off x="6217920" y="1920240"/>
            <a:ext cx="5212080" cy="3291840"/>
          </a:xfrm>
          <a:prstGeom prst="roundRect">
            <a:avLst>
              <a:gd name="adj" fmla="val 2778"/>
            </a:avLst>
          </a:prstGeom>
          <a:solidFill>
            <a:srgbClr val="111827"/>
          </a:solidFill>
          <a:ln w="19050">
            <a:solidFill>
              <a:srgbClr val="10B981"/>
            </a:solidFill>
            <a:prstDash val="solid"/>
          </a:ln>
        </p:spPr>
      </p:sp>
      <p:sp>
        <p:nvSpPr>
          <p:cNvPr id="9" name="Text 7"/>
          <p:cNvSpPr/>
          <p:nvPr/>
        </p:nvSpPr>
        <p:spPr>
          <a:xfrm>
            <a:off x="6446520" y="2057400"/>
            <a:ext cx="4754880" cy="274320"/>
          </a:xfrm>
          <a:prstGeom prst="rect">
            <a:avLst/>
          </a:prstGeom>
          <a:noFill/>
          <a:ln/>
        </p:spPr>
        <p:txBody>
          <a:bodyPr wrap="square" rtlCol="0" anchor="ctr"/>
          <a:lstStyle/>
          <a:p>
            <a:pPr indent="0" marL="0">
              <a:buNone/>
            </a:pPr>
            <a:r>
              <a:rPr lang="en-US" sz="1100" b="1" dirty="0">
                <a:solidFill>
                  <a:srgbClr val="10B981"/>
                </a:solidFill>
                <a:latin typeface="Segoe UI" pitchFamily="34" charset="0"/>
                <a:ea typeface="Segoe UI" pitchFamily="34" charset="-122"/>
                <a:cs typeface="Segoe UI" pitchFamily="34" charset="-120"/>
              </a:rPr>
              <a:t>⚡ THE MEMSYNC EDGE SOLUTION</a:t>
            </a:r>
            <a:endParaRPr lang="en-US" sz="1100" dirty="0"/>
          </a:p>
        </p:txBody>
      </p:sp>
      <p:sp>
        <p:nvSpPr>
          <p:cNvPr id="10" name="Text 8"/>
          <p:cNvSpPr/>
          <p:nvPr/>
        </p:nvSpPr>
        <p:spPr>
          <a:xfrm>
            <a:off x="6446520" y="2423160"/>
            <a:ext cx="4754880" cy="2103120"/>
          </a:xfrm>
          <a:prstGeom prst="rect">
            <a:avLst/>
          </a:prstGeom>
          <a:noFill/>
          <a:ln/>
        </p:spPr>
        <p:txBody>
          <a:bodyPr wrap="square" rtlCol="0" anchor="ctr"/>
          <a:lstStyle/>
          <a:p>
            <a:pPr indent="0" marL="0">
              <a:lnSpc>
                <a:spcPct val="115000"/>
              </a:lnSpc>
              <a:buNone/>
            </a:pPr>
            <a:r>
              <a:rPr lang="en-US" sz="1000" b="1" dirty="0">
                <a:solidFill>
                  <a:srgbClr val="FFFFFF"/>
                </a:solidFill>
                <a:latin typeface="Segoe UI" pitchFamily="34" charset="0"/>
                <a:ea typeface="Segoe UI" pitchFamily="34" charset="-122"/>
                <a:cs typeface="Segoe UI" pitchFamily="34" charset="-120"/>
              </a:rPr>
              <a:t>100% Local-First Edge Architecture: </a:t>
            </a:r>
            <a:pPr indent="0" marL="0">
              <a:lnSpc>
                <a:spcPct val="115000"/>
              </a:lnSpc>
              <a:buNone/>
            </a:pPr>
            <a:r>
              <a:rPr lang="en-US" sz="1000" dirty="0">
                <a:solidFill>
                  <a:srgbClr val="E2E8F0"/>
                </a:solidFill>
                <a:latin typeface="Segoe UI" pitchFamily="34" charset="0"/>
                <a:ea typeface="Segoe UI" pitchFamily="34" charset="-122"/>
                <a:cs typeface="Segoe UI" pitchFamily="34" charset="-120"/>
              </a:rPr>
              <a:t>Zero network telemetry. Zero data exfiltration. Zero API tokens. Everything executes directly on the developer laptop.
</a:t>
            </a:r>
            <a:pPr indent="0" marL="0">
              <a:lnSpc>
                <a:spcPct val="115000"/>
              </a:lnSpc>
              <a:buNone/>
            </a:pPr>
            <a:r>
              <a:rPr lang="en-US" sz="1000" b="1" dirty="0">
                <a:solidFill>
                  <a:srgbClr val="FFFFFF"/>
                </a:solidFill>
                <a:latin typeface="Segoe UI" pitchFamily="34" charset="0"/>
                <a:ea typeface="Segoe UI" pitchFamily="34" charset="-122"/>
                <a:cs typeface="Segoe UI" pitchFamily="34" charset="-120"/>
              </a:rPr>
              <a:t>Cognitive Note Ingestion: </a:t>
            </a:r>
            <a:pPr indent="0" marL="0">
              <a:lnSpc>
                <a:spcPct val="115000"/>
              </a:lnSpc>
              <a:buNone/>
            </a:pPr>
            <a:r>
              <a:rPr lang="en-US" sz="1000" dirty="0">
                <a:solidFill>
                  <a:srgbClr val="E2E8F0"/>
                </a:solidFill>
                <a:latin typeface="Segoe UI" pitchFamily="34" charset="0"/>
                <a:ea typeface="Segoe UI" pitchFamily="34" charset="-122"/>
                <a:cs typeface="Segoe UI" pitchFamily="34" charset="-120"/>
              </a:rPr>
              <a:t>Parses unstructured brain dumps into structured task queues, contextual tags, and Tiny Habit recipes in real time.
</a:t>
            </a:r>
            <a:pPr indent="0" marL="0">
              <a:lnSpc>
                <a:spcPct val="115000"/>
              </a:lnSpc>
              <a:buNone/>
            </a:pPr>
            <a:r>
              <a:rPr lang="en-US" sz="1000" b="1" dirty="0">
                <a:solidFill>
                  <a:srgbClr val="FFFFFF"/>
                </a:solidFill>
                <a:latin typeface="Segoe UI" pitchFamily="34" charset="0"/>
                <a:ea typeface="Segoe UI" pitchFamily="34" charset="-122"/>
                <a:cs typeface="Segoe UI" pitchFamily="34" charset="-120"/>
              </a:rPr>
              <a:t>Sub-Millisecond Speed &amp; Instant Uptime: </a:t>
            </a:r>
            <a:pPr indent="0" marL="0">
              <a:lnSpc>
                <a:spcPct val="115000"/>
              </a:lnSpc>
              <a:buNone/>
            </a:pPr>
            <a:r>
              <a:rPr lang="en-US" sz="1000" dirty="0">
                <a:solidFill>
                  <a:srgbClr val="E2E8F0"/>
                </a:solidFill>
                <a:latin typeface="Segoe UI" pitchFamily="34" charset="0"/>
                <a:ea typeface="Segoe UI" pitchFamily="34" charset="-122"/>
                <a:cs typeface="Segoe UI" pitchFamily="34" charset="-120"/>
              </a:rPr>
              <a:t>Dual-engine failover guarantees 100% offline availability with sub-5ms heuristic extraction and embedded SQLite WAL.</a:t>
            </a:r>
            <a:endParaRPr lang="en-US" sz="1000" dirty="0"/>
          </a:p>
        </p:txBody>
      </p:sp>
      <p:sp>
        <p:nvSpPr>
          <p:cNvPr id="11" name="Shape 9"/>
          <p:cNvSpPr/>
          <p:nvPr/>
        </p:nvSpPr>
        <p:spPr>
          <a:xfrm>
            <a:off x="6446520" y="4572000"/>
            <a:ext cx="4754880" cy="502920"/>
          </a:xfrm>
          <a:prstGeom prst="roundRect">
            <a:avLst>
              <a:gd name="adj" fmla="val 9091"/>
            </a:avLst>
          </a:prstGeom>
          <a:solidFill>
            <a:srgbClr val="0D2818"/>
          </a:solidFill>
          <a:ln w="12700">
            <a:solidFill>
              <a:srgbClr val="10B981"/>
            </a:solidFill>
            <a:prstDash val="solid"/>
          </a:ln>
        </p:spPr>
      </p:sp>
      <p:sp>
        <p:nvSpPr>
          <p:cNvPr id="12" name="Text 10"/>
          <p:cNvSpPr/>
          <p:nvPr/>
        </p:nvSpPr>
        <p:spPr>
          <a:xfrm>
            <a:off x="6537960" y="4617720"/>
            <a:ext cx="4572000" cy="411480"/>
          </a:xfrm>
          <a:prstGeom prst="rect">
            <a:avLst/>
          </a:prstGeom>
          <a:noFill/>
          <a:ln/>
        </p:spPr>
        <p:txBody>
          <a:bodyPr wrap="square" rtlCol="0" anchor="ctr"/>
          <a:lstStyle/>
          <a:p>
            <a:pPr indent="0" marL="0">
              <a:buNone/>
            </a:pPr>
            <a:r>
              <a:rPr lang="en-US" sz="950" b="1" i="1" dirty="0">
                <a:solidFill>
                  <a:srgbClr val="34D399"/>
                </a:solidFill>
                <a:latin typeface="Segoe UI" pitchFamily="34" charset="0"/>
                <a:ea typeface="Segoe UI" pitchFamily="34" charset="-122"/>
                <a:cs typeface="Segoe UI" pitchFamily="34" charset="-120"/>
              </a:rPr>
              <a:t>💡 Key Takeaway: "The intelligence of an AI executive copilot with the security of an air-gapped terminal."</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F1D"/>
        </a:solidFill>
      </p:bgPr>
    </p:bg>
    <p:spTree>
      <p:nvGrpSpPr>
        <p:cNvPr id="1" name=""/>
        <p:cNvGrpSpPr/>
        <p:nvPr/>
      </p:nvGrpSpPr>
      <p:grpSpPr>
        <a:xfrm>
          <a:off x="0" y="0"/>
          <a:ext cx="0" cy="0"/>
          <a:chOff x="0" y="0"/>
          <a:chExt cx="0" cy="0"/>
        </a:xfrm>
      </p:grpSpPr>
      <p:sp>
        <p:nvSpPr>
          <p:cNvPr id="2" name="Text 0"/>
          <p:cNvSpPr/>
          <p:nvPr/>
        </p:nvSpPr>
        <p:spPr>
          <a:xfrm>
            <a:off x="731520" y="457200"/>
            <a:ext cx="7772400" cy="320040"/>
          </a:xfrm>
          <a:prstGeom prst="rect">
            <a:avLst/>
          </a:prstGeom>
          <a:noFill/>
          <a:ln/>
        </p:spPr>
        <p:txBody>
          <a:bodyPr wrap="square" rtlCol="0" anchor="ctr"/>
          <a:lstStyle/>
          <a:p>
            <a:pPr indent="0" marL="0">
              <a:buNone/>
            </a:pPr>
            <a:r>
              <a:rPr lang="en-US" sz="1000" b="1" spc="200" kern="0" dirty="0">
                <a:solidFill>
                  <a:srgbClr val="38BDF8"/>
                </a:solidFill>
                <a:latin typeface="Segoe UI" pitchFamily="34" charset="0"/>
                <a:ea typeface="Segoe UI" pitchFamily="34" charset="-122"/>
                <a:cs typeface="Segoe UI" pitchFamily="34" charset="-120"/>
              </a:rPr>
              <a:t>TECHNICAL ARCHITECTURE • DUAL-ENGINE PIPELINE</a:t>
            </a:r>
            <a:endParaRPr lang="en-US" sz="1000" dirty="0"/>
          </a:p>
        </p:txBody>
      </p:sp>
      <p:sp>
        <p:nvSpPr>
          <p:cNvPr id="3" name="Text 1"/>
          <p:cNvSpPr/>
          <p:nvPr/>
        </p:nvSpPr>
        <p:spPr>
          <a:xfrm>
            <a:off x="731520" y="777240"/>
            <a:ext cx="10698480" cy="594360"/>
          </a:xfrm>
          <a:prstGeom prst="rect">
            <a:avLst/>
          </a:prstGeom>
          <a:noFill/>
          <a:ln/>
        </p:spPr>
        <p:txBody>
          <a:bodyPr wrap="square" rtlCol="0" anchor="ctr"/>
          <a:lstStyle/>
          <a:p>
            <a:pPr indent="0" marL="0">
              <a:buNone/>
            </a:pPr>
            <a:r>
              <a:rPr lang="en-US" sz="2400" b="1" dirty="0">
                <a:solidFill>
                  <a:srgbClr val="FFFFFF"/>
                </a:solidFill>
                <a:latin typeface="Segoe UI" pitchFamily="34" charset="0"/>
                <a:ea typeface="Segoe UI" pitchFamily="34" charset="-122"/>
                <a:cs typeface="Segoe UI" pitchFamily="34" charset="-120"/>
              </a:rPr>
              <a:t>Sub-Millisecond Determinism Meets Quantized Edge Intelligence</a:t>
            </a:r>
            <a:endParaRPr lang="en-US" sz="2400" dirty="0"/>
          </a:p>
        </p:txBody>
      </p:sp>
      <p:sp>
        <p:nvSpPr>
          <p:cNvPr id="4" name="Shape 2"/>
          <p:cNvSpPr/>
          <p:nvPr/>
        </p:nvSpPr>
        <p:spPr>
          <a:xfrm>
            <a:off x="731520" y="1463040"/>
            <a:ext cx="2468880" cy="1234440"/>
          </a:xfrm>
          <a:prstGeom prst="roundRect">
            <a:avLst>
              <a:gd name="adj" fmla="val 5926"/>
            </a:avLst>
          </a:prstGeom>
          <a:solidFill>
            <a:srgbClr val="111827"/>
          </a:solidFill>
          <a:ln w="19050">
            <a:solidFill>
              <a:srgbClr val="3B82F6"/>
            </a:solidFill>
            <a:prstDash val="solid"/>
          </a:ln>
        </p:spPr>
      </p:sp>
      <p:sp>
        <p:nvSpPr>
          <p:cNvPr id="5" name="Text 3"/>
          <p:cNvSpPr/>
          <p:nvPr/>
        </p:nvSpPr>
        <p:spPr>
          <a:xfrm>
            <a:off x="868680" y="1554480"/>
            <a:ext cx="2194560" cy="274320"/>
          </a:xfrm>
          <a:prstGeom prst="rect">
            <a:avLst/>
          </a:prstGeom>
          <a:noFill/>
          <a:ln/>
        </p:spPr>
        <p:txBody>
          <a:bodyPr wrap="square" rtlCol="0" anchor="ctr"/>
          <a:lstStyle/>
          <a:p>
            <a:pPr indent="0" marL="0">
              <a:buNone/>
            </a:pPr>
            <a:r>
              <a:rPr lang="en-US" sz="1100" b="1" dirty="0">
                <a:solidFill>
                  <a:srgbClr val="3B82F6"/>
                </a:solidFill>
                <a:latin typeface="Segoe UI" pitchFamily="34" charset="0"/>
                <a:ea typeface="Segoe UI" pitchFamily="34" charset="-122"/>
                <a:cs typeface="Segoe UI" pitchFamily="34" charset="-120"/>
              </a:rPr>
              <a:t>1. Ingestion</a:t>
            </a:r>
            <a:endParaRPr lang="en-US" sz="1100" dirty="0"/>
          </a:p>
        </p:txBody>
      </p:sp>
      <p:sp>
        <p:nvSpPr>
          <p:cNvPr id="6" name="Text 4"/>
          <p:cNvSpPr/>
          <p:nvPr/>
        </p:nvSpPr>
        <p:spPr>
          <a:xfrm>
            <a:off x="868680" y="1874520"/>
            <a:ext cx="2194560" cy="731520"/>
          </a:xfrm>
          <a:prstGeom prst="rect">
            <a:avLst/>
          </a:prstGeom>
          <a:noFill/>
          <a:ln/>
        </p:spPr>
        <p:txBody>
          <a:bodyPr wrap="square" rtlCol="0" anchor="ctr"/>
          <a:lstStyle/>
          <a:p>
            <a:pPr indent="0" marL="0">
              <a:buNone/>
            </a:pPr>
            <a:r>
              <a:rPr lang="en-US" sz="950" dirty="0">
                <a:solidFill>
                  <a:srgbClr val="FFFFFF"/>
                </a:solidFill>
                <a:latin typeface="Segoe UI" pitchFamily="34" charset="0"/>
                <a:ea typeface="Segoe UI" pitchFamily="34" charset="-122"/>
                <a:cs typeface="Segoe UI" pitchFamily="34" charset="-120"/>
              </a:rPr>
              <a:t>Raw Markdown</a:t>
            </a:r>
            <a:endParaRPr lang="en-US" sz="950" dirty="0"/>
          </a:p>
          <a:p>
            <a:pPr indent="0" marL="0">
              <a:buNone/>
            </a:pPr>
            <a:r>
              <a:rPr lang="en-US" sz="950" dirty="0">
                <a:solidFill>
                  <a:srgbClr val="FFFFFF"/>
                </a:solidFill>
                <a:latin typeface="Segoe UI" pitchFamily="34" charset="0"/>
                <a:ea typeface="Segoe UI" pitchFamily="34" charset="-122"/>
                <a:cs typeface="Segoe UI" pitchFamily="34" charset="-120"/>
              </a:rPr>
              <a:t>Brain Dump &amp; Logs</a:t>
            </a:r>
            <a:endParaRPr lang="en-US" sz="950" dirty="0"/>
          </a:p>
        </p:txBody>
      </p:sp>
      <p:sp>
        <p:nvSpPr>
          <p:cNvPr id="7" name="Text 5"/>
          <p:cNvSpPr/>
          <p:nvPr/>
        </p:nvSpPr>
        <p:spPr>
          <a:xfrm>
            <a:off x="3246120" y="1874520"/>
            <a:ext cx="274320" cy="365760"/>
          </a:xfrm>
          <a:prstGeom prst="rect">
            <a:avLst/>
          </a:prstGeom>
          <a:noFill/>
          <a:ln/>
        </p:spPr>
        <p:txBody>
          <a:bodyPr wrap="square" rtlCol="0" anchor="ctr"/>
          <a:lstStyle/>
          <a:p>
            <a:pPr indent="0" marL="0">
              <a:buNone/>
            </a:pPr>
            <a:r>
              <a:rPr lang="en-US" sz="1600" b="1" dirty="0">
                <a:solidFill>
                  <a:srgbClr val="94A3B8"/>
                </a:solidFill>
              </a:rPr>
              <a:t>➔</a:t>
            </a:r>
            <a:endParaRPr lang="en-US" sz="1600" dirty="0"/>
          </a:p>
        </p:txBody>
      </p:sp>
      <p:sp>
        <p:nvSpPr>
          <p:cNvPr id="8" name="Shape 6"/>
          <p:cNvSpPr/>
          <p:nvPr/>
        </p:nvSpPr>
        <p:spPr>
          <a:xfrm>
            <a:off x="3474720" y="1463040"/>
            <a:ext cx="2468880" cy="1234440"/>
          </a:xfrm>
          <a:prstGeom prst="roundRect">
            <a:avLst>
              <a:gd name="adj" fmla="val 5926"/>
            </a:avLst>
          </a:prstGeom>
          <a:solidFill>
            <a:srgbClr val="111827"/>
          </a:solidFill>
          <a:ln w="19050">
            <a:solidFill>
              <a:srgbClr val="38BDF8"/>
            </a:solidFill>
            <a:prstDash val="solid"/>
          </a:ln>
        </p:spPr>
      </p:sp>
      <p:sp>
        <p:nvSpPr>
          <p:cNvPr id="9" name="Text 7"/>
          <p:cNvSpPr/>
          <p:nvPr/>
        </p:nvSpPr>
        <p:spPr>
          <a:xfrm>
            <a:off x="3611880" y="1554480"/>
            <a:ext cx="2194560" cy="274320"/>
          </a:xfrm>
          <a:prstGeom prst="rect">
            <a:avLst/>
          </a:prstGeom>
          <a:noFill/>
          <a:ln/>
        </p:spPr>
        <p:txBody>
          <a:bodyPr wrap="square" rtlCol="0" anchor="ctr"/>
          <a:lstStyle/>
          <a:p>
            <a:pPr indent="0" marL="0">
              <a:buNone/>
            </a:pPr>
            <a:r>
              <a:rPr lang="en-US" sz="1100" b="1" dirty="0">
                <a:solidFill>
                  <a:srgbClr val="38BDF8"/>
                </a:solidFill>
                <a:latin typeface="Segoe UI" pitchFamily="34" charset="0"/>
                <a:ea typeface="Segoe UI" pitchFamily="34" charset="-122"/>
                <a:cs typeface="Segoe UI" pitchFamily="34" charset="-120"/>
              </a:rPr>
              <a:t>2. Dual Engine</a:t>
            </a:r>
            <a:endParaRPr lang="en-US" sz="1100" dirty="0"/>
          </a:p>
        </p:txBody>
      </p:sp>
      <p:sp>
        <p:nvSpPr>
          <p:cNvPr id="10" name="Text 8"/>
          <p:cNvSpPr/>
          <p:nvPr/>
        </p:nvSpPr>
        <p:spPr>
          <a:xfrm>
            <a:off x="3611880" y="1874520"/>
            <a:ext cx="2194560" cy="731520"/>
          </a:xfrm>
          <a:prstGeom prst="rect">
            <a:avLst/>
          </a:prstGeom>
          <a:noFill/>
          <a:ln/>
        </p:spPr>
        <p:txBody>
          <a:bodyPr wrap="square" rtlCol="0" anchor="ctr"/>
          <a:lstStyle/>
          <a:p>
            <a:pPr indent="0" marL="0">
              <a:buNone/>
            </a:pPr>
            <a:r>
              <a:rPr lang="en-US" sz="950" dirty="0">
                <a:solidFill>
                  <a:srgbClr val="FFFFFF"/>
                </a:solidFill>
                <a:latin typeface="Segoe UI" pitchFamily="34" charset="0"/>
                <a:ea typeface="Segoe UI" pitchFamily="34" charset="-122"/>
                <a:cs typeface="Segoe UI" pitchFamily="34" charset="-120"/>
              </a:rPr>
              <a:t>Ollama SLM (1.5B)</a:t>
            </a:r>
            <a:endParaRPr lang="en-US" sz="950" dirty="0"/>
          </a:p>
          <a:p>
            <a:pPr indent="0" marL="0">
              <a:buNone/>
            </a:pPr>
            <a:r>
              <a:rPr lang="en-US" sz="950" dirty="0">
                <a:solidFill>
                  <a:srgbClr val="FFFFFF"/>
                </a:solidFill>
                <a:latin typeface="Segoe UI" pitchFamily="34" charset="0"/>
                <a:ea typeface="Segoe UI" pitchFamily="34" charset="-122"/>
                <a:cs typeface="Segoe UI" pitchFamily="34" charset="-120"/>
              </a:rPr>
              <a:t>+ &lt;5ms Heuristic Fallback</a:t>
            </a:r>
            <a:endParaRPr lang="en-US" sz="950" dirty="0"/>
          </a:p>
        </p:txBody>
      </p:sp>
      <p:sp>
        <p:nvSpPr>
          <p:cNvPr id="11" name="Text 9"/>
          <p:cNvSpPr/>
          <p:nvPr/>
        </p:nvSpPr>
        <p:spPr>
          <a:xfrm>
            <a:off x="5989320" y="1874520"/>
            <a:ext cx="274320" cy="365760"/>
          </a:xfrm>
          <a:prstGeom prst="rect">
            <a:avLst/>
          </a:prstGeom>
          <a:noFill/>
          <a:ln/>
        </p:spPr>
        <p:txBody>
          <a:bodyPr wrap="square" rtlCol="0" anchor="ctr"/>
          <a:lstStyle/>
          <a:p>
            <a:pPr indent="0" marL="0">
              <a:buNone/>
            </a:pPr>
            <a:r>
              <a:rPr lang="en-US" sz="1600" b="1" dirty="0">
                <a:solidFill>
                  <a:srgbClr val="94A3B8"/>
                </a:solidFill>
              </a:rPr>
              <a:t>➔</a:t>
            </a:r>
            <a:endParaRPr lang="en-US" sz="1600" dirty="0"/>
          </a:p>
        </p:txBody>
      </p:sp>
      <p:sp>
        <p:nvSpPr>
          <p:cNvPr id="12" name="Shape 10"/>
          <p:cNvSpPr/>
          <p:nvPr/>
        </p:nvSpPr>
        <p:spPr>
          <a:xfrm>
            <a:off x="6217920" y="1463040"/>
            <a:ext cx="2468880" cy="1234440"/>
          </a:xfrm>
          <a:prstGeom prst="roundRect">
            <a:avLst>
              <a:gd name="adj" fmla="val 5926"/>
            </a:avLst>
          </a:prstGeom>
          <a:solidFill>
            <a:srgbClr val="111827"/>
          </a:solidFill>
          <a:ln w="19050">
            <a:solidFill>
              <a:srgbClr val="10B981"/>
            </a:solidFill>
            <a:prstDash val="solid"/>
          </a:ln>
        </p:spPr>
      </p:sp>
      <p:sp>
        <p:nvSpPr>
          <p:cNvPr id="13" name="Text 11"/>
          <p:cNvSpPr/>
          <p:nvPr/>
        </p:nvSpPr>
        <p:spPr>
          <a:xfrm>
            <a:off x="6355080" y="1554480"/>
            <a:ext cx="2194560" cy="274320"/>
          </a:xfrm>
          <a:prstGeom prst="rect">
            <a:avLst/>
          </a:prstGeom>
          <a:noFill/>
          <a:ln/>
        </p:spPr>
        <p:txBody>
          <a:bodyPr wrap="square" rtlCol="0" anchor="ctr"/>
          <a:lstStyle/>
          <a:p>
            <a:pPr indent="0" marL="0">
              <a:buNone/>
            </a:pPr>
            <a:r>
              <a:rPr lang="en-US" sz="1100" b="1" dirty="0">
                <a:solidFill>
                  <a:srgbClr val="10B981"/>
                </a:solidFill>
                <a:latin typeface="Segoe UI" pitchFamily="34" charset="0"/>
                <a:ea typeface="Segoe UI" pitchFamily="34" charset="-122"/>
                <a:cs typeface="Segoe UI" pitchFamily="34" charset="-120"/>
              </a:rPr>
              <a:t>3. Local Persistence</a:t>
            </a:r>
            <a:endParaRPr lang="en-US" sz="1100" dirty="0"/>
          </a:p>
        </p:txBody>
      </p:sp>
      <p:sp>
        <p:nvSpPr>
          <p:cNvPr id="14" name="Text 12"/>
          <p:cNvSpPr/>
          <p:nvPr/>
        </p:nvSpPr>
        <p:spPr>
          <a:xfrm>
            <a:off x="6355080" y="1874520"/>
            <a:ext cx="2194560" cy="731520"/>
          </a:xfrm>
          <a:prstGeom prst="rect">
            <a:avLst/>
          </a:prstGeom>
          <a:noFill/>
          <a:ln/>
        </p:spPr>
        <p:txBody>
          <a:bodyPr wrap="square" rtlCol="0" anchor="ctr"/>
          <a:lstStyle/>
          <a:p>
            <a:pPr indent="0" marL="0">
              <a:buNone/>
            </a:pPr>
            <a:r>
              <a:rPr lang="en-US" sz="950" dirty="0">
                <a:solidFill>
                  <a:srgbClr val="FFFFFF"/>
                </a:solidFill>
                <a:latin typeface="Segoe UI" pitchFamily="34" charset="0"/>
                <a:ea typeface="Segoe UI" pitchFamily="34" charset="-122"/>
                <a:cs typeface="Segoe UI" pitchFamily="34" charset="-120"/>
              </a:rPr>
              <a:t>SQLite WAL Mode</a:t>
            </a:r>
            <a:endParaRPr lang="en-US" sz="950" dirty="0"/>
          </a:p>
          <a:p>
            <a:pPr indent="0" marL="0">
              <a:buNone/>
            </a:pPr>
            <a:r>
              <a:rPr lang="en-US" sz="950" dirty="0">
                <a:solidFill>
                  <a:srgbClr val="FFFFFF"/>
                </a:solidFill>
                <a:latin typeface="Segoe UI" pitchFamily="34" charset="0"/>
                <a:ea typeface="Segoe UI" pitchFamily="34" charset="-122"/>
                <a:cs typeface="Segoe UI" pitchFamily="34" charset="-120"/>
              </a:rPr>
              <a:t>+ In-Memory Vector Index</a:t>
            </a:r>
            <a:endParaRPr lang="en-US" sz="950" dirty="0"/>
          </a:p>
        </p:txBody>
      </p:sp>
      <p:sp>
        <p:nvSpPr>
          <p:cNvPr id="15" name="Text 13"/>
          <p:cNvSpPr/>
          <p:nvPr/>
        </p:nvSpPr>
        <p:spPr>
          <a:xfrm>
            <a:off x="8732520" y="1874520"/>
            <a:ext cx="274320" cy="365760"/>
          </a:xfrm>
          <a:prstGeom prst="rect">
            <a:avLst/>
          </a:prstGeom>
          <a:noFill/>
          <a:ln/>
        </p:spPr>
        <p:txBody>
          <a:bodyPr wrap="square" rtlCol="0" anchor="ctr"/>
          <a:lstStyle/>
          <a:p>
            <a:pPr indent="0" marL="0">
              <a:buNone/>
            </a:pPr>
            <a:r>
              <a:rPr lang="en-US" sz="1600" b="1" dirty="0">
                <a:solidFill>
                  <a:srgbClr val="94A3B8"/>
                </a:solidFill>
              </a:rPr>
              <a:t>➔</a:t>
            </a:r>
            <a:endParaRPr lang="en-US" sz="1600" dirty="0"/>
          </a:p>
        </p:txBody>
      </p:sp>
      <p:sp>
        <p:nvSpPr>
          <p:cNvPr id="16" name="Shape 14"/>
          <p:cNvSpPr/>
          <p:nvPr/>
        </p:nvSpPr>
        <p:spPr>
          <a:xfrm>
            <a:off x="8961120" y="1463040"/>
            <a:ext cx="2468880" cy="1234440"/>
          </a:xfrm>
          <a:prstGeom prst="roundRect">
            <a:avLst>
              <a:gd name="adj" fmla="val 5926"/>
            </a:avLst>
          </a:prstGeom>
          <a:solidFill>
            <a:srgbClr val="111827"/>
          </a:solidFill>
          <a:ln w="19050">
            <a:solidFill>
              <a:srgbClr val="A855F7"/>
            </a:solidFill>
            <a:prstDash val="solid"/>
          </a:ln>
        </p:spPr>
      </p:sp>
      <p:sp>
        <p:nvSpPr>
          <p:cNvPr id="17" name="Text 15"/>
          <p:cNvSpPr/>
          <p:nvPr/>
        </p:nvSpPr>
        <p:spPr>
          <a:xfrm>
            <a:off x="9098280" y="1554480"/>
            <a:ext cx="2194560" cy="274320"/>
          </a:xfrm>
          <a:prstGeom prst="rect">
            <a:avLst/>
          </a:prstGeom>
          <a:noFill/>
          <a:ln/>
        </p:spPr>
        <p:txBody>
          <a:bodyPr wrap="square" rtlCol="0" anchor="ctr"/>
          <a:lstStyle/>
          <a:p>
            <a:pPr indent="0" marL="0">
              <a:buNone/>
            </a:pPr>
            <a:r>
              <a:rPr lang="en-US" sz="1100" b="1" dirty="0">
                <a:solidFill>
                  <a:srgbClr val="A855F7"/>
                </a:solidFill>
                <a:latin typeface="Segoe UI" pitchFamily="34" charset="0"/>
                <a:ea typeface="Segoe UI" pitchFamily="34" charset="-122"/>
                <a:cs typeface="Segoe UI" pitchFamily="34" charset="-120"/>
              </a:rPr>
              <a:t>4. Cockpit UI</a:t>
            </a:r>
            <a:endParaRPr lang="en-US" sz="1100" dirty="0"/>
          </a:p>
        </p:txBody>
      </p:sp>
      <p:sp>
        <p:nvSpPr>
          <p:cNvPr id="18" name="Text 16"/>
          <p:cNvSpPr/>
          <p:nvPr/>
        </p:nvSpPr>
        <p:spPr>
          <a:xfrm>
            <a:off x="9098280" y="1874520"/>
            <a:ext cx="2194560" cy="731520"/>
          </a:xfrm>
          <a:prstGeom prst="rect">
            <a:avLst/>
          </a:prstGeom>
          <a:noFill/>
          <a:ln/>
        </p:spPr>
        <p:txBody>
          <a:bodyPr wrap="square" rtlCol="0" anchor="ctr"/>
          <a:lstStyle/>
          <a:p>
            <a:pPr indent="0" marL="0">
              <a:buNone/>
            </a:pPr>
            <a:r>
              <a:rPr lang="en-US" sz="950" dirty="0">
                <a:solidFill>
                  <a:srgbClr val="FFFFFF"/>
                </a:solidFill>
                <a:latin typeface="Segoe UI" pitchFamily="34" charset="0"/>
                <a:ea typeface="Segoe UI" pitchFamily="34" charset="-122"/>
                <a:cs typeface="Segoe UI" pitchFamily="34" charset="-120"/>
              </a:rPr>
              <a:t>React + Vite</a:t>
            </a:r>
            <a:endParaRPr lang="en-US" sz="950" dirty="0"/>
          </a:p>
          <a:p>
            <a:pPr indent="0" marL="0">
              <a:buNone/>
            </a:pPr>
            <a:r>
              <a:rPr lang="en-US" sz="950" dirty="0">
                <a:solidFill>
                  <a:srgbClr val="FFFFFF"/>
                </a:solidFill>
                <a:latin typeface="Segoe UI" pitchFamily="34" charset="0"/>
                <a:ea typeface="Segoe UI" pitchFamily="34" charset="-122"/>
                <a:cs typeface="Segoe UI" pitchFamily="34" charset="-120"/>
              </a:rPr>
              <a:t>Context &amp; Habit Flow</a:t>
            </a:r>
            <a:endParaRPr lang="en-US" sz="950" dirty="0"/>
          </a:p>
        </p:txBody>
      </p:sp>
      <p:sp>
        <p:nvSpPr>
          <p:cNvPr id="19" name="Shape 17"/>
          <p:cNvSpPr/>
          <p:nvPr/>
        </p:nvSpPr>
        <p:spPr>
          <a:xfrm>
            <a:off x="731520" y="2926080"/>
            <a:ext cx="5212080" cy="960120"/>
          </a:xfrm>
          <a:prstGeom prst="roundRect">
            <a:avLst>
              <a:gd name="adj" fmla="val 7619"/>
            </a:avLst>
          </a:prstGeom>
          <a:solidFill>
            <a:srgbClr val="111827"/>
          </a:solidFill>
          <a:ln w="12700">
            <a:solidFill>
              <a:srgbClr val="334155"/>
            </a:solidFill>
            <a:prstDash val="solid"/>
          </a:ln>
        </p:spPr>
      </p:sp>
      <p:sp>
        <p:nvSpPr>
          <p:cNvPr id="20" name="Text 18"/>
          <p:cNvSpPr/>
          <p:nvPr/>
        </p:nvSpPr>
        <p:spPr>
          <a:xfrm>
            <a:off x="868680" y="2999232"/>
            <a:ext cx="4937760" cy="256032"/>
          </a:xfrm>
          <a:prstGeom prst="rect">
            <a:avLst/>
          </a:prstGeom>
          <a:noFill/>
          <a:ln/>
        </p:spPr>
        <p:txBody>
          <a:bodyPr wrap="square" rtlCol="0" anchor="ctr"/>
          <a:lstStyle/>
          <a:p>
            <a:pPr indent="0" marL="0">
              <a:buNone/>
            </a:pPr>
            <a:r>
              <a:rPr lang="en-US" sz="1050" b="1" dirty="0">
                <a:solidFill>
                  <a:srgbClr val="38BDF8"/>
                </a:solidFill>
                <a:latin typeface="Segoe UI" pitchFamily="34" charset="0"/>
                <a:ea typeface="Segoe UI" pitchFamily="34" charset="-122"/>
                <a:cs typeface="Segoe UI" pitchFamily="34" charset="-120"/>
              </a:rPr>
              <a:t>● Sub-1GB Model Footprint</a:t>
            </a:r>
            <a:endParaRPr lang="en-US" sz="1050" dirty="0"/>
          </a:p>
        </p:txBody>
      </p:sp>
      <p:sp>
        <p:nvSpPr>
          <p:cNvPr id="21" name="Text 19"/>
          <p:cNvSpPr/>
          <p:nvPr/>
        </p:nvSpPr>
        <p:spPr>
          <a:xfrm>
            <a:off x="868680" y="3273552"/>
            <a:ext cx="4937760" cy="548640"/>
          </a:xfrm>
          <a:prstGeom prst="rect">
            <a:avLst/>
          </a:prstGeom>
          <a:noFill/>
          <a:ln/>
        </p:spPr>
        <p:txBody>
          <a:bodyPr wrap="square" rtlCol="0" anchor="ctr"/>
          <a:lstStyle/>
          <a:p>
            <a:pPr indent="0" marL="0">
              <a:lnSpc>
                <a:spcPct val="110000"/>
              </a:lnSpc>
              <a:buNone/>
            </a:pPr>
            <a:r>
              <a:rPr lang="en-US" sz="900" dirty="0">
                <a:solidFill>
                  <a:srgbClr val="E2E8F0"/>
                </a:solidFill>
                <a:latin typeface="Segoe UI" pitchFamily="34" charset="0"/>
                <a:ea typeface="Segoe UI" pitchFamily="34" charset="-122"/>
                <a:cs typeface="Segoe UI" pitchFamily="34" charset="-120"/>
              </a:rPr>
              <a:t>Runs quantized Small Language Models (Qwen-2.5-Coder 1.5B) locally with Ollama. Consumes &lt; 950MB RAM, allowing it to run smoothly on standard 8GB RAM laptops.</a:t>
            </a:r>
            <a:endParaRPr lang="en-US" sz="900" dirty="0"/>
          </a:p>
        </p:txBody>
      </p:sp>
      <p:sp>
        <p:nvSpPr>
          <p:cNvPr id="22" name="Shape 20"/>
          <p:cNvSpPr/>
          <p:nvPr/>
        </p:nvSpPr>
        <p:spPr>
          <a:xfrm>
            <a:off x="6217920" y="2926080"/>
            <a:ext cx="5212080" cy="960120"/>
          </a:xfrm>
          <a:prstGeom prst="roundRect">
            <a:avLst>
              <a:gd name="adj" fmla="val 7619"/>
            </a:avLst>
          </a:prstGeom>
          <a:solidFill>
            <a:srgbClr val="111827"/>
          </a:solidFill>
          <a:ln w="12700">
            <a:solidFill>
              <a:srgbClr val="334155"/>
            </a:solidFill>
            <a:prstDash val="solid"/>
          </a:ln>
        </p:spPr>
      </p:sp>
      <p:sp>
        <p:nvSpPr>
          <p:cNvPr id="23" name="Text 21"/>
          <p:cNvSpPr/>
          <p:nvPr/>
        </p:nvSpPr>
        <p:spPr>
          <a:xfrm>
            <a:off x="6355080" y="2999232"/>
            <a:ext cx="4937760" cy="256032"/>
          </a:xfrm>
          <a:prstGeom prst="rect">
            <a:avLst/>
          </a:prstGeom>
          <a:noFill/>
          <a:ln/>
        </p:spPr>
        <p:txBody>
          <a:bodyPr wrap="square" rtlCol="0" anchor="ctr"/>
          <a:lstStyle/>
          <a:p>
            <a:pPr indent="0" marL="0">
              <a:buNone/>
            </a:pPr>
            <a:r>
              <a:rPr lang="en-US" sz="1050" b="1" dirty="0">
                <a:solidFill>
                  <a:srgbClr val="10B981"/>
                </a:solidFill>
                <a:latin typeface="Segoe UI" pitchFamily="34" charset="0"/>
                <a:ea typeface="Segoe UI" pitchFamily="34" charset="-122"/>
                <a:cs typeface="Segoe UI" pitchFamily="34" charset="-120"/>
              </a:rPr>
              <a:t>● Zero-Failure Dual Engine</a:t>
            </a:r>
            <a:endParaRPr lang="en-US" sz="1050" dirty="0"/>
          </a:p>
        </p:txBody>
      </p:sp>
      <p:sp>
        <p:nvSpPr>
          <p:cNvPr id="24" name="Text 22"/>
          <p:cNvSpPr/>
          <p:nvPr/>
        </p:nvSpPr>
        <p:spPr>
          <a:xfrm>
            <a:off x="6355080" y="3273552"/>
            <a:ext cx="4937760" cy="548640"/>
          </a:xfrm>
          <a:prstGeom prst="rect">
            <a:avLst/>
          </a:prstGeom>
          <a:noFill/>
          <a:ln/>
        </p:spPr>
        <p:txBody>
          <a:bodyPr wrap="square" rtlCol="0" anchor="ctr"/>
          <a:lstStyle/>
          <a:p>
            <a:pPr indent="0" marL="0">
              <a:lnSpc>
                <a:spcPct val="110000"/>
              </a:lnSpc>
              <a:buNone/>
            </a:pPr>
            <a:r>
              <a:rPr lang="en-US" sz="900" dirty="0">
                <a:solidFill>
                  <a:srgbClr val="E2E8F0"/>
                </a:solidFill>
                <a:latin typeface="Segoe UI" pitchFamily="34" charset="0"/>
                <a:ea typeface="Segoe UI" pitchFamily="34" charset="-122"/>
                <a:cs typeface="Segoe UI" pitchFamily="34" charset="-120"/>
              </a:rPr>
              <a:t>If Ollama is stopped or offline, the engine seamlessly fails over to a deterministic regex &amp; heuristic parser in &lt; 5ms with 100% uptime.</a:t>
            </a:r>
            <a:endParaRPr lang="en-US" sz="900" dirty="0"/>
          </a:p>
        </p:txBody>
      </p:sp>
      <p:sp>
        <p:nvSpPr>
          <p:cNvPr id="25" name="Shape 23"/>
          <p:cNvSpPr/>
          <p:nvPr/>
        </p:nvSpPr>
        <p:spPr>
          <a:xfrm>
            <a:off x="731520" y="4023360"/>
            <a:ext cx="5212080" cy="960120"/>
          </a:xfrm>
          <a:prstGeom prst="roundRect">
            <a:avLst>
              <a:gd name="adj" fmla="val 7619"/>
            </a:avLst>
          </a:prstGeom>
          <a:solidFill>
            <a:srgbClr val="111827"/>
          </a:solidFill>
          <a:ln w="12700">
            <a:solidFill>
              <a:srgbClr val="334155"/>
            </a:solidFill>
            <a:prstDash val="solid"/>
          </a:ln>
        </p:spPr>
      </p:sp>
      <p:sp>
        <p:nvSpPr>
          <p:cNvPr id="26" name="Text 24"/>
          <p:cNvSpPr/>
          <p:nvPr/>
        </p:nvSpPr>
        <p:spPr>
          <a:xfrm>
            <a:off x="868680" y="4096512"/>
            <a:ext cx="4937760" cy="256032"/>
          </a:xfrm>
          <a:prstGeom prst="rect">
            <a:avLst/>
          </a:prstGeom>
          <a:noFill/>
          <a:ln/>
        </p:spPr>
        <p:txBody>
          <a:bodyPr wrap="square" rtlCol="0" anchor="ctr"/>
          <a:lstStyle/>
          <a:p>
            <a:pPr indent="0" marL="0">
              <a:buNone/>
            </a:pPr>
            <a:r>
              <a:rPr lang="en-US" sz="1050" b="1" dirty="0">
                <a:solidFill>
                  <a:srgbClr val="3B82F6"/>
                </a:solidFill>
                <a:latin typeface="Segoe UI" pitchFamily="34" charset="0"/>
                <a:ea typeface="Segoe UI" pitchFamily="34" charset="-122"/>
                <a:cs typeface="Segoe UI" pitchFamily="34" charset="-120"/>
              </a:rPr>
              <a:t>● 100% ACID Local State (SQLite WAL)</a:t>
            </a:r>
            <a:endParaRPr lang="en-US" sz="1050" dirty="0"/>
          </a:p>
        </p:txBody>
      </p:sp>
      <p:sp>
        <p:nvSpPr>
          <p:cNvPr id="27" name="Text 25"/>
          <p:cNvSpPr/>
          <p:nvPr/>
        </p:nvSpPr>
        <p:spPr>
          <a:xfrm>
            <a:off x="868680" y="4370832"/>
            <a:ext cx="4937760" cy="548640"/>
          </a:xfrm>
          <a:prstGeom prst="rect">
            <a:avLst/>
          </a:prstGeom>
          <a:noFill/>
          <a:ln/>
        </p:spPr>
        <p:txBody>
          <a:bodyPr wrap="square" rtlCol="0" anchor="ctr"/>
          <a:lstStyle/>
          <a:p>
            <a:pPr indent="0" marL="0">
              <a:lnSpc>
                <a:spcPct val="110000"/>
              </a:lnSpc>
              <a:buNone/>
            </a:pPr>
            <a:r>
              <a:rPr lang="en-US" sz="900" dirty="0">
                <a:solidFill>
                  <a:srgbClr val="E2E8F0"/>
                </a:solidFill>
                <a:latin typeface="Segoe UI" pitchFamily="34" charset="0"/>
                <a:ea typeface="Segoe UI" pitchFamily="34" charset="-122"/>
                <a:cs typeface="Segoe UI" pitchFamily="34" charset="-120"/>
              </a:rPr>
              <a:t>Built-in node:sqlite with Write-Ahead Logging. Non-blocking concurrent reads and idempotent transactions execute in under 2ms with zero external database servers.</a:t>
            </a:r>
            <a:endParaRPr lang="en-US" sz="900" dirty="0"/>
          </a:p>
        </p:txBody>
      </p:sp>
      <p:sp>
        <p:nvSpPr>
          <p:cNvPr id="28" name="Shape 26"/>
          <p:cNvSpPr/>
          <p:nvPr/>
        </p:nvSpPr>
        <p:spPr>
          <a:xfrm>
            <a:off x="6217920" y="4023360"/>
            <a:ext cx="5212080" cy="960120"/>
          </a:xfrm>
          <a:prstGeom prst="roundRect">
            <a:avLst>
              <a:gd name="adj" fmla="val 7619"/>
            </a:avLst>
          </a:prstGeom>
          <a:solidFill>
            <a:srgbClr val="111827"/>
          </a:solidFill>
          <a:ln w="12700">
            <a:solidFill>
              <a:srgbClr val="334155"/>
            </a:solidFill>
            <a:prstDash val="solid"/>
          </a:ln>
        </p:spPr>
      </p:sp>
      <p:sp>
        <p:nvSpPr>
          <p:cNvPr id="29" name="Text 27"/>
          <p:cNvSpPr/>
          <p:nvPr/>
        </p:nvSpPr>
        <p:spPr>
          <a:xfrm>
            <a:off x="6355080" y="4096512"/>
            <a:ext cx="4937760" cy="256032"/>
          </a:xfrm>
          <a:prstGeom prst="rect">
            <a:avLst/>
          </a:prstGeom>
          <a:noFill/>
          <a:ln/>
        </p:spPr>
        <p:txBody>
          <a:bodyPr wrap="square" rtlCol="0" anchor="ctr"/>
          <a:lstStyle/>
          <a:p>
            <a:pPr indent="0" marL="0">
              <a:buNone/>
            </a:pPr>
            <a:r>
              <a:rPr lang="en-US" sz="1050" b="1" dirty="0">
                <a:solidFill>
                  <a:srgbClr val="A855F7"/>
                </a:solidFill>
                <a:latin typeface="Segoe UI" pitchFamily="34" charset="0"/>
                <a:ea typeface="Segoe UI" pitchFamily="34" charset="-122"/>
                <a:cs typeface="Segoe UI" pitchFamily="34" charset="-120"/>
              </a:rPr>
              <a:t>● Edge In-Memory Vector Search</a:t>
            </a:r>
            <a:endParaRPr lang="en-US" sz="1050" dirty="0"/>
          </a:p>
        </p:txBody>
      </p:sp>
      <p:sp>
        <p:nvSpPr>
          <p:cNvPr id="30" name="Text 28"/>
          <p:cNvSpPr/>
          <p:nvPr/>
        </p:nvSpPr>
        <p:spPr>
          <a:xfrm>
            <a:off x="6355080" y="4370832"/>
            <a:ext cx="4937760" cy="548640"/>
          </a:xfrm>
          <a:prstGeom prst="rect">
            <a:avLst/>
          </a:prstGeom>
          <a:noFill/>
          <a:ln/>
        </p:spPr>
        <p:txBody>
          <a:bodyPr wrap="square" rtlCol="0" anchor="ctr"/>
          <a:lstStyle/>
          <a:p>
            <a:pPr indent="0" marL="0">
              <a:lnSpc>
                <a:spcPct val="110000"/>
              </a:lnSpc>
              <a:buNone/>
            </a:pPr>
            <a:r>
              <a:rPr lang="en-US" sz="900" dirty="0">
                <a:solidFill>
                  <a:srgbClr val="E2E8F0"/>
                </a:solidFill>
                <a:latin typeface="Segoe UI" pitchFamily="34" charset="0"/>
                <a:ea typeface="Segoe UI" pitchFamily="34" charset="-122"/>
                <a:cs typeface="Segoe UI" pitchFamily="34" charset="-120"/>
              </a:rPr>
              <a:t>Character n-gram tokenization with cosine similarity vector scoring over historical sprint logs. Enables semantic memory search with zero third-party embedding calls.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F1D"/>
        </a:solidFill>
      </p:bgPr>
    </p:bg>
    <p:spTree>
      <p:nvGrpSpPr>
        <p:cNvPr id="1" name=""/>
        <p:cNvGrpSpPr/>
        <p:nvPr/>
      </p:nvGrpSpPr>
      <p:grpSpPr>
        <a:xfrm>
          <a:off x="0" y="0"/>
          <a:ext cx="0" cy="0"/>
          <a:chOff x="0" y="0"/>
          <a:chExt cx="0" cy="0"/>
        </a:xfrm>
      </p:grpSpPr>
      <p:sp>
        <p:nvSpPr>
          <p:cNvPr id="2" name="Text 0"/>
          <p:cNvSpPr/>
          <p:nvPr/>
        </p:nvSpPr>
        <p:spPr>
          <a:xfrm>
            <a:off x="731520" y="457200"/>
            <a:ext cx="7772400" cy="320040"/>
          </a:xfrm>
          <a:prstGeom prst="rect">
            <a:avLst/>
          </a:prstGeom>
          <a:noFill/>
          <a:ln/>
        </p:spPr>
        <p:txBody>
          <a:bodyPr wrap="square" rtlCol="0" anchor="ctr"/>
          <a:lstStyle/>
          <a:p>
            <a:pPr indent="0" marL="0">
              <a:buNone/>
            </a:pPr>
            <a:r>
              <a:rPr lang="en-US" sz="1000" b="1" spc="200" kern="0" dirty="0">
                <a:solidFill>
                  <a:srgbClr val="F59E0B"/>
                </a:solidFill>
                <a:latin typeface="Segoe UI" pitchFamily="34" charset="0"/>
                <a:ea typeface="Segoe UI" pitchFamily="34" charset="-122"/>
                <a:cs typeface="Segoe UI" pitchFamily="34" charset="-120"/>
              </a:rPr>
              <a:t>BEHAVIORAL ENGINEERING • DR. BJ FOGG METHODOLOGY</a:t>
            </a:r>
            <a:endParaRPr lang="en-US" sz="1000" dirty="0"/>
          </a:p>
        </p:txBody>
      </p:sp>
      <p:sp>
        <p:nvSpPr>
          <p:cNvPr id="3" name="Text 1"/>
          <p:cNvSpPr/>
          <p:nvPr/>
        </p:nvSpPr>
        <p:spPr>
          <a:xfrm>
            <a:off x="731520" y="777240"/>
            <a:ext cx="10698480" cy="594360"/>
          </a:xfrm>
          <a:prstGeom prst="rect">
            <a:avLst/>
          </a:prstGeom>
          <a:noFill/>
          <a:ln/>
        </p:spPr>
        <p:txBody>
          <a:bodyPr wrap="square" rtlCol="0" anchor="ctr"/>
          <a:lstStyle/>
          <a:p>
            <a:pPr indent="0" marL="0">
              <a:buNone/>
            </a:pPr>
            <a:r>
              <a:rPr lang="en-US" sz="2400" b="1" dirty="0">
                <a:solidFill>
                  <a:srgbClr val="FFFFFF"/>
                </a:solidFill>
                <a:latin typeface="Segoe UI" pitchFamily="34" charset="0"/>
                <a:ea typeface="Segoe UI" pitchFamily="34" charset="-122"/>
                <a:cs typeface="Segoe UI" pitchFamily="34" charset="-120"/>
              </a:rPr>
              <a:t>Closing the Intent-Execution Gap with Tiny Habits</a:t>
            </a:r>
            <a:endParaRPr lang="en-US" sz="2400" dirty="0"/>
          </a:p>
        </p:txBody>
      </p:sp>
      <p:sp>
        <p:nvSpPr>
          <p:cNvPr id="4" name="Shape 2"/>
          <p:cNvSpPr/>
          <p:nvPr/>
        </p:nvSpPr>
        <p:spPr>
          <a:xfrm>
            <a:off x="731520" y="1417320"/>
            <a:ext cx="10698480" cy="731520"/>
          </a:xfrm>
          <a:prstGeom prst="roundRect">
            <a:avLst>
              <a:gd name="adj" fmla="val 10000"/>
            </a:avLst>
          </a:prstGeom>
          <a:solidFill>
            <a:srgbClr val="1A1D2B"/>
          </a:solidFill>
          <a:ln w="12700">
            <a:solidFill>
              <a:srgbClr val="F59E0B"/>
            </a:solidFill>
            <a:prstDash val="solid"/>
          </a:ln>
        </p:spPr>
      </p:sp>
      <p:sp>
        <p:nvSpPr>
          <p:cNvPr id="5" name="Text 3"/>
          <p:cNvSpPr/>
          <p:nvPr/>
        </p:nvSpPr>
        <p:spPr>
          <a:xfrm>
            <a:off x="914400" y="1508760"/>
            <a:ext cx="10332720" cy="256032"/>
          </a:xfrm>
          <a:prstGeom prst="rect">
            <a:avLst/>
          </a:prstGeom>
          <a:noFill/>
          <a:ln/>
        </p:spPr>
        <p:txBody>
          <a:bodyPr wrap="square" rtlCol="0" anchor="ctr"/>
          <a:lstStyle/>
          <a:p>
            <a:pPr indent="0" marL="0">
              <a:buNone/>
            </a:pPr>
            <a:r>
              <a:rPr lang="en-US" sz="1100" b="1" dirty="0">
                <a:solidFill>
                  <a:srgbClr val="F59E0B"/>
                </a:solidFill>
                <a:latin typeface="Segoe UI" pitchFamily="34" charset="0"/>
                <a:ea typeface="Segoe UI" pitchFamily="34" charset="-122"/>
                <a:cs typeface="Segoe UI" pitchFamily="34" charset="-120"/>
              </a:rPr>
              <a:t>🧠 Why Traditional To-Do Apps Fail: Passive Graveyard Lists</a:t>
            </a:r>
            <a:endParaRPr lang="en-US" sz="1100" dirty="0"/>
          </a:p>
        </p:txBody>
      </p:sp>
      <p:sp>
        <p:nvSpPr>
          <p:cNvPr id="6" name="Text 4"/>
          <p:cNvSpPr/>
          <p:nvPr/>
        </p:nvSpPr>
        <p:spPr>
          <a:xfrm>
            <a:off x="914400" y="1783080"/>
            <a:ext cx="10332720" cy="320040"/>
          </a:xfrm>
          <a:prstGeom prst="rect">
            <a:avLst/>
          </a:prstGeom>
          <a:noFill/>
          <a:ln/>
        </p:spPr>
        <p:txBody>
          <a:bodyPr wrap="square" rtlCol="0" anchor="ctr"/>
          <a:lstStyle/>
          <a:p>
            <a:pPr indent="0" marL="0">
              <a:buNone/>
            </a:pPr>
            <a:r>
              <a:rPr lang="en-US" sz="950" dirty="0">
                <a:solidFill>
                  <a:srgbClr val="E2E8F0"/>
                </a:solidFill>
                <a:latin typeface="Segoe UI" pitchFamily="34" charset="0"/>
                <a:ea typeface="Segoe UI" pitchFamily="34" charset="-122"/>
                <a:cs typeface="Segoe UI" pitchFamily="34" charset="-120"/>
              </a:rPr>
              <a:t>Standard apps let users dump 30 tasks with no behavioral triggers, leading to friction, overwhelm, and paralysis. BJ Fogg's Behavior Model (B = MAP) shows behavior occurs only when Motivation, Ability (low friction), and a Prompt converge.</a:t>
            </a:r>
            <a:endParaRPr lang="en-US" sz="950" dirty="0"/>
          </a:p>
        </p:txBody>
      </p:sp>
      <p:sp>
        <p:nvSpPr>
          <p:cNvPr id="7" name="Shape 5"/>
          <p:cNvSpPr/>
          <p:nvPr/>
        </p:nvSpPr>
        <p:spPr>
          <a:xfrm>
            <a:off x="731520" y="2331720"/>
            <a:ext cx="3383280" cy="1554480"/>
          </a:xfrm>
          <a:prstGeom prst="roundRect">
            <a:avLst>
              <a:gd name="adj" fmla="val 4706"/>
            </a:avLst>
          </a:prstGeom>
          <a:solidFill>
            <a:srgbClr val="111827"/>
          </a:solidFill>
          <a:ln w="19050">
            <a:solidFill>
              <a:srgbClr val="38BDF8"/>
            </a:solidFill>
            <a:prstDash val="solid"/>
          </a:ln>
        </p:spPr>
      </p:sp>
      <p:sp>
        <p:nvSpPr>
          <p:cNvPr id="8" name="Text 6"/>
          <p:cNvSpPr/>
          <p:nvPr/>
        </p:nvSpPr>
        <p:spPr>
          <a:xfrm>
            <a:off x="868680" y="2468880"/>
            <a:ext cx="3108960" cy="274320"/>
          </a:xfrm>
          <a:prstGeom prst="rect">
            <a:avLst/>
          </a:prstGeom>
          <a:noFill/>
          <a:ln/>
        </p:spPr>
        <p:txBody>
          <a:bodyPr wrap="square" rtlCol="0" anchor="ctr"/>
          <a:lstStyle/>
          <a:p>
            <a:pPr indent="0" marL="0">
              <a:buNone/>
            </a:pPr>
            <a:r>
              <a:rPr lang="en-US" sz="1200" b="1" dirty="0">
                <a:solidFill>
                  <a:srgbClr val="38BDF8"/>
                </a:solidFill>
                <a:latin typeface="Segoe UI" pitchFamily="34" charset="0"/>
                <a:ea typeface="Segoe UI" pitchFamily="34" charset="-122"/>
                <a:cs typeface="Segoe UI" pitchFamily="34" charset="-120"/>
              </a:rPr>
              <a:t>1. ANCHOR / CUE</a:t>
            </a:r>
            <a:endParaRPr lang="en-US" sz="1200" dirty="0"/>
          </a:p>
        </p:txBody>
      </p:sp>
      <p:sp>
        <p:nvSpPr>
          <p:cNvPr id="9" name="Text 7"/>
          <p:cNvSpPr/>
          <p:nvPr/>
        </p:nvSpPr>
        <p:spPr>
          <a:xfrm>
            <a:off x="868680" y="2788920"/>
            <a:ext cx="3108960" cy="228600"/>
          </a:xfrm>
          <a:prstGeom prst="rect">
            <a:avLst/>
          </a:prstGeom>
          <a:noFill/>
          <a:ln/>
        </p:spPr>
        <p:txBody>
          <a:bodyPr wrap="square" rtlCol="0" anchor="ctr"/>
          <a:lstStyle/>
          <a:p>
            <a:pPr indent="0" marL="0">
              <a:buNone/>
            </a:pPr>
            <a:r>
              <a:rPr lang="en-US" sz="1000" b="1" dirty="0">
                <a:solidFill>
                  <a:srgbClr val="FFFFFF"/>
                </a:solidFill>
                <a:latin typeface="Segoe UI" pitchFamily="34" charset="0"/>
                <a:ea typeface="Segoe UI" pitchFamily="34" charset="-122"/>
                <a:cs typeface="Segoe UI" pitchFamily="34" charset="-120"/>
              </a:rPr>
              <a:t>Contextual Existing Routine</a:t>
            </a:r>
            <a:endParaRPr lang="en-US" sz="1000" dirty="0"/>
          </a:p>
        </p:txBody>
      </p:sp>
      <p:sp>
        <p:nvSpPr>
          <p:cNvPr id="10" name="Shape 8"/>
          <p:cNvSpPr/>
          <p:nvPr/>
        </p:nvSpPr>
        <p:spPr>
          <a:xfrm>
            <a:off x="868680" y="3108960"/>
            <a:ext cx="3108960" cy="640080"/>
          </a:xfrm>
          <a:prstGeom prst="roundRect">
            <a:avLst>
              <a:gd name="adj" fmla="val 7143"/>
            </a:avLst>
          </a:prstGeom>
          <a:solidFill>
            <a:srgbClr val="0D1322"/>
          </a:solidFill>
          <a:ln w="12700">
            <a:solidFill>
              <a:srgbClr val="334155"/>
            </a:solidFill>
            <a:prstDash val="solid"/>
          </a:ln>
        </p:spPr>
      </p:sp>
      <p:sp>
        <p:nvSpPr>
          <p:cNvPr id="11" name="Text 9"/>
          <p:cNvSpPr/>
          <p:nvPr/>
        </p:nvSpPr>
        <p:spPr>
          <a:xfrm>
            <a:off x="960120" y="3154680"/>
            <a:ext cx="2926080" cy="548640"/>
          </a:xfrm>
          <a:prstGeom prst="rect">
            <a:avLst/>
          </a:prstGeom>
          <a:noFill/>
          <a:ln/>
        </p:spPr>
        <p:txBody>
          <a:bodyPr wrap="square" rtlCol="0" anchor="ctr"/>
          <a:lstStyle/>
          <a:p>
            <a:pPr indent="0" marL="0">
              <a:buNone/>
            </a:pPr>
            <a:r>
              <a:rPr lang="en-US" sz="950" i="1" dirty="0">
                <a:solidFill>
                  <a:srgbClr val="93C5FD"/>
                </a:solidFill>
                <a:latin typeface="Segoe UI" pitchFamily="34" charset="0"/>
                <a:ea typeface="Segoe UI" pitchFamily="34" charset="-122"/>
                <a:cs typeface="Segoe UI" pitchFamily="34" charset="-120"/>
              </a:rPr>
              <a:t>"After closing a Git feature branch or PR..."</a:t>
            </a:r>
            <a:endParaRPr lang="en-US" sz="950" dirty="0"/>
          </a:p>
        </p:txBody>
      </p:sp>
      <p:sp>
        <p:nvSpPr>
          <p:cNvPr id="12" name="Shape 10"/>
          <p:cNvSpPr/>
          <p:nvPr/>
        </p:nvSpPr>
        <p:spPr>
          <a:xfrm>
            <a:off x="4389120" y="2331720"/>
            <a:ext cx="3383280" cy="1554480"/>
          </a:xfrm>
          <a:prstGeom prst="roundRect">
            <a:avLst>
              <a:gd name="adj" fmla="val 4706"/>
            </a:avLst>
          </a:prstGeom>
          <a:solidFill>
            <a:srgbClr val="111827"/>
          </a:solidFill>
          <a:ln w="19050">
            <a:solidFill>
              <a:srgbClr val="10B981"/>
            </a:solidFill>
            <a:prstDash val="solid"/>
          </a:ln>
        </p:spPr>
      </p:sp>
      <p:sp>
        <p:nvSpPr>
          <p:cNvPr id="13" name="Text 11"/>
          <p:cNvSpPr/>
          <p:nvPr/>
        </p:nvSpPr>
        <p:spPr>
          <a:xfrm>
            <a:off x="4526280" y="2468880"/>
            <a:ext cx="3108960" cy="274320"/>
          </a:xfrm>
          <a:prstGeom prst="rect">
            <a:avLst/>
          </a:prstGeom>
          <a:noFill/>
          <a:ln/>
        </p:spPr>
        <p:txBody>
          <a:bodyPr wrap="square" rtlCol="0" anchor="ctr"/>
          <a:lstStyle/>
          <a:p>
            <a:pPr indent="0" marL="0">
              <a:buNone/>
            </a:pPr>
            <a:r>
              <a:rPr lang="en-US" sz="1200" b="1" dirty="0">
                <a:solidFill>
                  <a:srgbClr val="10B981"/>
                </a:solidFill>
                <a:latin typeface="Segoe UI" pitchFamily="34" charset="0"/>
                <a:ea typeface="Segoe UI" pitchFamily="34" charset="-122"/>
                <a:cs typeface="Segoe UI" pitchFamily="34" charset="-120"/>
              </a:rPr>
              <a:t>2. TINY ACTION</a:t>
            </a:r>
            <a:endParaRPr lang="en-US" sz="1200" dirty="0"/>
          </a:p>
        </p:txBody>
      </p:sp>
      <p:sp>
        <p:nvSpPr>
          <p:cNvPr id="14" name="Text 12"/>
          <p:cNvSpPr/>
          <p:nvPr/>
        </p:nvSpPr>
        <p:spPr>
          <a:xfrm>
            <a:off x="4526280" y="2788920"/>
            <a:ext cx="3108960" cy="228600"/>
          </a:xfrm>
          <a:prstGeom prst="rect">
            <a:avLst/>
          </a:prstGeom>
          <a:noFill/>
          <a:ln/>
        </p:spPr>
        <p:txBody>
          <a:bodyPr wrap="square" rtlCol="0" anchor="ctr"/>
          <a:lstStyle/>
          <a:p>
            <a:pPr indent="0" marL="0">
              <a:buNone/>
            </a:pPr>
            <a:r>
              <a:rPr lang="en-US" sz="1000" b="1" dirty="0">
                <a:solidFill>
                  <a:srgbClr val="FFFFFF"/>
                </a:solidFill>
                <a:latin typeface="Segoe UI" pitchFamily="34" charset="0"/>
                <a:ea typeface="Segoe UI" pitchFamily="34" charset="-122"/>
                <a:cs typeface="Segoe UI" pitchFamily="34" charset="-120"/>
              </a:rPr>
              <a:t>Micro-Habit (&lt; 60s Friction)</a:t>
            </a:r>
            <a:endParaRPr lang="en-US" sz="1000" dirty="0"/>
          </a:p>
        </p:txBody>
      </p:sp>
      <p:sp>
        <p:nvSpPr>
          <p:cNvPr id="15" name="Shape 13"/>
          <p:cNvSpPr/>
          <p:nvPr/>
        </p:nvSpPr>
        <p:spPr>
          <a:xfrm>
            <a:off x="4526280" y="3108960"/>
            <a:ext cx="3108960" cy="640080"/>
          </a:xfrm>
          <a:prstGeom prst="roundRect">
            <a:avLst>
              <a:gd name="adj" fmla="val 7143"/>
            </a:avLst>
          </a:prstGeom>
          <a:solidFill>
            <a:srgbClr val="0D1322"/>
          </a:solidFill>
          <a:ln w="12700">
            <a:solidFill>
              <a:srgbClr val="334155"/>
            </a:solidFill>
            <a:prstDash val="solid"/>
          </a:ln>
        </p:spPr>
      </p:sp>
      <p:sp>
        <p:nvSpPr>
          <p:cNvPr id="16" name="Text 14"/>
          <p:cNvSpPr/>
          <p:nvPr/>
        </p:nvSpPr>
        <p:spPr>
          <a:xfrm>
            <a:off x="4617720" y="3154680"/>
            <a:ext cx="2926080" cy="548640"/>
          </a:xfrm>
          <a:prstGeom prst="rect">
            <a:avLst/>
          </a:prstGeom>
          <a:noFill/>
          <a:ln/>
        </p:spPr>
        <p:txBody>
          <a:bodyPr wrap="square" rtlCol="0" anchor="ctr"/>
          <a:lstStyle/>
          <a:p>
            <a:pPr indent="0" marL="0">
              <a:buNone/>
            </a:pPr>
            <a:r>
              <a:rPr lang="en-US" sz="950" i="1" dirty="0">
                <a:solidFill>
                  <a:srgbClr val="93C5FD"/>
                </a:solidFill>
                <a:latin typeface="Segoe UI" pitchFamily="34" charset="0"/>
                <a:ea typeface="Segoe UI" pitchFamily="34" charset="-122"/>
                <a:cs typeface="Segoe UI" pitchFamily="34" charset="-120"/>
              </a:rPr>
              <a:t>"Run the test suite &amp; write a 2-line commit summary."</a:t>
            </a:r>
            <a:endParaRPr lang="en-US" sz="950" dirty="0"/>
          </a:p>
        </p:txBody>
      </p:sp>
      <p:sp>
        <p:nvSpPr>
          <p:cNvPr id="17" name="Shape 15"/>
          <p:cNvSpPr/>
          <p:nvPr/>
        </p:nvSpPr>
        <p:spPr>
          <a:xfrm>
            <a:off x="8046720" y="2331720"/>
            <a:ext cx="3383280" cy="1554480"/>
          </a:xfrm>
          <a:prstGeom prst="roundRect">
            <a:avLst>
              <a:gd name="adj" fmla="val 4706"/>
            </a:avLst>
          </a:prstGeom>
          <a:solidFill>
            <a:srgbClr val="111827"/>
          </a:solidFill>
          <a:ln w="19050">
            <a:solidFill>
              <a:srgbClr val="F59E0B"/>
            </a:solidFill>
            <a:prstDash val="solid"/>
          </a:ln>
        </p:spPr>
      </p:sp>
      <p:sp>
        <p:nvSpPr>
          <p:cNvPr id="18" name="Text 16"/>
          <p:cNvSpPr/>
          <p:nvPr/>
        </p:nvSpPr>
        <p:spPr>
          <a:xfrm>
            <a:off x="8183880" y="2468880"/>
            <a:ext cx="3108960" cy="274320"/>
          </a:xfrm>
          <a:prstGeom prst="rect">
            <a:avLst/>
          </a:prstGeom>
          <a:noFill/>
          <a:ln/>
        </p:spPr>
        <p:txBody>
          <a:bodyPr wrap="square" rtlCol="0" anchor="ctr"/>
          <a:lstStyle/>
          <a:p>
            <a:pPr indent="0" marL="0">
              <a:buNone/>
            </a:pPr>
            <a:r>
              <a:rPr lang="en-US" sz="1200" b="1" dirty="0">
                <a:solidFill>
                  <a:srgbClr val="F59E0B"/>
                </a:solidFill>
                <a:latin typeface="Segoe UI" pitchFamily="34" charset="0"/>
                <a:ea typeface="Segoe UI" pitchFamily="34" charset="-122"/>
                <a:cs typeface="Segoe UI" pitchFamily="34" charset="-120"/>
              </a:rPr>
              <a:t>3. CELEBRATION</a:t>
            </a:r>
            <a:endParaRPr lang="en-US" sz="1200" dirty="0"/>
          </a:p>
        </p:txBody>
      </p:sp>
      <p:sp>
        <p:nvSpPr>
          <p:cNvPr id="19" name="Text 17"/>
          <p:cNvSpPr/>
          <p:nvPr/>
        </p:nvSpPr>
        <p:spPr>
          <a:xfrm>
            <a:off x="8183880" y="2788920"/>
            <a:ext cx="3108960" cy="228600"/>
          </a:xfrm>
          <a:prstGeom prst="rect">
            <a:avLst/>
          </a:prstGeom>
          <a:noFill/>
          <a:ln/>
        </p:spPr>
        <p:txBody>
          <a:bodyPr wrap="square" rtlCol="0" anchor="ctr"/>
          <a:lstStyle/>
          <a:p>
            <a:pPr indent="0" marL="0">
              <a:buNone/>
            </a:pPr>
            <a:r>
              <a:rPr lang="en-US" sz="1000" b="1" dirty="0">
                <a:solidFill>
                  <a:srgbClr val="FFFFFF"/>
                </a:solidFill>
                <a:latin typeface="Segoe UI" pitchFamily="34" charset="0"/>
                <a:ea typeface="Segoe UI" pitchFamily="34" charset="-122"/>
                <a:cs typeface="Segoe UI" pitchFamily="34" charset="-120"/>
              </a:rPr>
              <a:t>Dopamine Reinforcement</a:t>
            </a:r>
            <a:endParaRPr lang="en-US" sz="1000" dirty="0"/>
          </a:p>
        </p:txBody>
      </p:sp>
      <p:sp>
        <p:nvSpPr>
          <p:cNvPr id="20" name="Shape 18"/>
          <p:cNvSpPr/>
          <p:nvPr/>
        </p:nvSpPr>
        <p:spPr>
          <a:xfrm>
            <a:off x="8183880" y="3108960"/>
            <a:ext cx="3108960" cy="640080"/>
          </a:xfrm>
          <a:prstGeom prst="roundRect">
            <a:avLst>
              <a:gd name="adj" fmla="val 7143"/>
            </a:avLst>
          </a:prstGeom>
          <a:solidFill>
            <a:srgbClr val="0D1322"/>
          </a:solidFill>
          <a:ln w="12700">
            <a:solidFill>
              <a:srgbClr val="334155"/>
            </a:solidFill>
            <a:prstDash val="solid"/>
          </a:ln>
        </p:spPr>
      </p:sp>
      <p:sp>
        <p:nvSpPr>
          <p:cNvPr id="21" name="Text 19"/>
          <p:cNvSpPr/>
          <p:nvPr/>
        </p:nvSpPr>
        <p:spPr>
          <a:xfrm>
            <a:off x="8275320" y="3154680"/>
            <a:ext cx="2926080" cy="548640"/>
          </a:xfrm>
          <a:prstGeom prst="rect">
            <a:avLst/>
          </a:prstGeom>
          <a:noFill/>
          <a:ln/>
        </p:spPr>
        <p:txBody>
          <a:bodyPr wrap="square" rtlCol="0" anchor="ctr"/>
          <a:lstStyle/>
          <a:p>
            <a:pPr indent="0" marL="0">
              <a:buNone/>
            </a:pPr>
            <a:r>
              <a:rPr lang="en-US" sz="950" i="1" dirty="0">
                <a:solidFill>
                  <a:srgbClr val="93C5FD"/>
                </a:solidFill>
                <a:latin typeface="Segoe UI" pitchFamily="34" charset="0"/>
                <a:ea typeface="Segoe UI" pitchFamily="34" charset="-122"/>
                <a:cs typeface="Segoe UI" pitchFamily="34" charset="-120"/>
              </a:rPr>
              <a:t>"High five screen &amp; whisper 'Clean shipping!'"</a:t>
            </a:r>
            <a:endParaRPr lang="en-US" sz="950" dirty="0"/>
          </a:p>
        </p:txBody>
      </p:sp>
      <p:sp>
        <p:nvSpPr>
          <p:cNvPr id="22" name="Shape 20"/>
          <p:cNvSpPr/>
          <p:nvPr/>
        </p:nvSpPr>
        <p:spPr>
          <a:xfrm>
            <a:off x="731520" y="4023360"/>
            <a:ext cx="10698480" cy="1005840"/>
          </a:xfrm>
          <a:prstGeom prst="roundRect">
            <a:avLst>
              <a:gd name="adj" fmla="val 7273"/>
            </a:avLst>
          </a:prstGeom>
          <a:solidFill>
            <a:srgbClr val="111827"/>
          </a:solidFill>
          <a:ln w="12700">
            <a:solidFill>
              <a:srgbClr val="334155"/>
            </a:solidFill>
            <a:prstDash val="solid"/>
          </a:ln>
        </p:spPr>
      </p:sp>
      <p:sp>
        <p:nvSpPr>
          <p:cNvPr id="23" name="Text 21"/>
          <p:cNvSpPr/>
          <p:nvPr/>
        </p:nvSpPr>
        <p:spPr>
          <a:xfrm>
            <a:off x="914400" y="4114800"/>
            <a:ext cx="10332720" cy="228600"/>
          </a:xfrm>
          <a:prstGeom prst="rect">
            <a:avLst/>
          </a:prstGeom>
          <a:noFill/>
          <a:ln/>
        </p:spPr>
        <p:txBody>
          <a:bodyPr wrap="square" rtlCol="0" anchor="ctr"/>
          <a:lstStyle/>
          <a:p>
            <a:pPr indent="0" marL="0">
              <a:buNone/>
            </a:pPr>
            <a:r>
              <a:rPr lang="en-US" sz="1050" b="1" dirty="0">
                <a:solidFill>
                  <a:srgbClr val="10B981"/>
                </a:solidFill>
                <a:latin typeface="Segoe UI" pitchFamily="34" charset="0"/>
                <a:ea typeface="Segoe UI" pitchFamily="34" charset="-122"/>
                <a:cs typeface="Segoe UI" pitchFamily="34" charset="-120"/>
              </a:rPr>
              <a:t>🎯 COMPLETE BEHAVIORAL LOOP CLOSURE IN MEMSYNC</a:t>
            </a:r>
            <a:endParaRPr lang="en-US" sz="1050" dirty="0"/>
          </a:p>
        </p:txBody>
      </p:sp>
      <p:sp>
        <p:nvSpPr>
          <p:cNvPr id="24" name="Text 22"/>
          <p:cNvSpPr/>
          <p:nvPr/>
        </p:nvSpPr>
        <p:spPr>
          <a:xfrm>
            <a:off x="914400" y="4389120"/>
            <a:ext cx="10332720" cy="548640"/>
          </a:xfrm>
          <a:prstGeom prst="rect">
            <a:avLst/>
          </a:prstGeom>
          <a:noFill/>
          <a:ln/>
        </p:spPr>
        <p:txBody>
          <a:bodyPr wrap="square" rtlCol="0" anchor="ctr"/>
          <a:lstStyle/>
          <a:p>
            <a:pPr indent="0" marL="0">
              <a:lnSpc>
                <a:spcPct val="115000"/>
              </a:lnSpc>
              <a:buNone/>
            </a:pPr>
            <a:r>
              <a:rPr lang="en-US" sz="950" b="1" dirty="0">
                <a:solidFill>
                  <a:srgbClr val="FFFFFF"/>
                </a:solidFill>
                <a:latin typeface="Segoe UI" pitchFamily="34" charset="0"/>
                <a:ea typeface="Segoe UI" pitchFamily="34" charset="-122"/>
                <a:cs typeface="Segoe UI" pitchFamily="34" charset="-120"/>
              </a:rPr>
              <a:t>• 30-Day Activity Heatmap: </a:t>
            </a:r>
            <a:pPr indent="0" marL="0">
              <a:lnSpc>
                <a:spcPct val="115000"/>
              </a:lnSpc>
              <a:buNone/>
            </a:pPr>
            <a:r>
              <a:rPr lang="en-US" sz="950" dirty="0">
                <a:solidFill>
                  <a:srgbClr val="E2E8F0"/>
                </a:solidFill>
                <a:latin typeface="Segoe UI" pitchFamily="34" charset="0"/>
                <a:ea typeface="Segoe UI" pitchFamily="34" charset="-122"/>
                <a:cs typeface="Segoe UI" pitchFamily="34" charset="-120"/>
              </a:rPr>
              <a:t>Tracks behavioral momentum visually without guilt. </a:t>
            </a:r>
            <a:pPr indent="0" marL="0">
              <a:lnSpc>
                <a:spcPct val="115000"/>
              </a:lnSpc>
              <a:buNone/>
            </a:pPr>
            <a:r>
              <a:rPr lang="en-US" sz="950" b="1" dirty="0">
                <a:solidFill>
                  <a:srgbClr val="FFFFFF"/>
                </a:solidFill>
                <a:latin typeface="Segoe UI" pitchFamily="34" charset="0"/>
                <a:ea typeface="Segoe UI" pitchFamily="34" charset="-122"/>
                <a:cs typeface="Segoe UI" pitchFamily="34" charset="-120"/>
              </a:rPr>
              <a:t>• Idempotent SQLite Check-ins: </a:t>
            </a:r>
            <a:pPr indent="0" marL="0">
              <a:lnSpc>
                <a:spcPct val="115000"/>
              </a:lnSpc>
              <a:buNone/>
            </a:pPr>
            <a:r>
              <a:rPr lang="en-US" sz="950" dirty="0">
                <a:solidFill>
                  <a:srgbClr val="E2E8F0"/>
                </a:solidFill>
                <a:latin typeface="Segoe UI" pitchFamily="34" charset="0"/>
                <a:ea typeface="Segoe UI" pitchFamily="34" charset="-122"/>
                <a:cs typeface="Segoe UI" pitchFamily="34" charset="-120"/>
              </a:rPr>
              <a:t>One-click check-ins with animated dopamine cues. </a:t>
            </a:r>
            <a:pPr indent="0" marL="0">
              <a:lnSpc>
                <a:spcPct val="115000"/>
              </a:lnSpc>
              <a:buNone/>
            </a:pPr>
            <a:r>
              <a:rPr lang="en-US" sz="950" b="1" dirty="0">
                <a:solidFill>
                  <a:srgbClr val="FFFFFF"/>
                </a:solidFill>
                <a:latin typeface="Segoe UI" pitchFamily="34" charset="0"/>
                <a:ea typeface="Segoe UI" pitchFamily="34" charset="-122"/>
                <a:cs typeface="Segoe UI" pitchFamily="34" charset="-120"/>
              </a:rPr>
              <a:t>• Automated Standup Generation: </a:t>
            </a:r>
            <a:pPr indent="0" marL="0">
              <a:lnSpc>
                <a:spcPct val="115000"/>
              </a:lnSpc>
              <a:buNone/>
            </a:pPr>
            <a:r>
              <a:rPr lang="en-US" sz="950" dirty="0">
                <a:solidFill>
                  <a:srgbClr val="E2E8F0"/>
                </a:solidFill>
                <a:latin typeface="Segoe UI" pitchFamily="34" charset="0"/>
                <a:ea typeface="Segoe UI" pitchFamily="34" charset="-122"/>
                <a:cs typeface="Segoe UI" pitchFamily="34" charset="-120"/>
              </a:rPr>
              <a:t>Compiles completed items into ready-to-paste standups, eliminating reporting friction.</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F1D"/>
        </a:solidFill>
      </p:bgPr>
    </p:bg>
    <p:spTree>
      <p:nvGrpSpPr>
        <p:cNvPr id="1" name=""/>
        <p:cNvGrpSpPr/>
        <p:nvPr/>
      </p:nvGrpSpPr>
      <p:grpSpPr>
        <a:xfrm>
          <a:off x="0" y="0"/>
          <a:ext cx="0" cy="0"/>
          <a:chOff x="0" y="0"/>
          <a:chExt cx="0" cy="0"/>
        </a:xfrm>
      </p:grpSpPr>
      <p:sp>
        <p:nvSpPr>
          <p:cNvPr id="2" name="Text 0"/>
          <p:cNvSpPr/>
          <p:nvPr/>
        </p:nvSpPr>
        <p:spPr>
          <a:xfrm>
            <a:off x="731520" y="457200"/>
            <a:ext cx="7772400" cy="320040"/>
          </a:xfrm>
          <a:prstGeom prst="rect">
            <a:avLst/>
          </a:prstGeom>
          <a:noFill/>
          <a:ln/>
        </p:spPr>
        <p:txBody>
          <a:bodyPr wrap="square" rtlCol="0" anchor="ctr"/>
          <a:lstStyle/>
          <a:p>
            <a:pPr indent="0" marL="0">
              <a:buNone/>
            </a:pPr>
            <a:r>
              <a:rPr lang="en-US" sz="1000" b="1" spc="200" kern="0" dirty="0">
                <a:solidFill>
                  <a:srgbClr val="10B981"/>
                </a:solidFill>
                <a:latin typeface="Segoe UI" pitchFamily="34" charset="0"/>
                <a:ea typeface="Segoe UI" pitchFamily="34" charset="-122"/>
                <a:cs typeface="Segoe UI" pitchFamily="34" charset="-120"/>
              </a:rPr>
              <a:t>COMPETITIVE MOAT &amp; ROADMAP • BENCHMARK EVALUATION</a:t>
            </a:r>
            <a:endParaRPr lang="en-US" sz="1000" dirty="0"/>
          </a:p>
        </p:txBody>
      </p:sp>
      <p:sp>
        <p:nvSpPr>
          <p:cNvPr id="3" name="Text 1"/>
          <p:cNvSpPr/>
          <p:nvPr/>
        </p:nvSpPr>
        <p:spPr>
          <a:xfrm>
            <a:off x="731520" y="777240"/>
            <a:ext cx="10698480" cy="594360"/>
          </a:xfrm>
          <a:prstGeom prst="rect">
            <a:avLst/>
          </a:prstGeom>
          <a:noFill/>
          <a:ln/>
        </p:spPr>
        <p:txBody>
          <a:bodyPr wrap="square" rtlCol="0" anchor="ctr"/>
          <a:lstStyle/>
          <a:p>
            <a:pPr indent="0" marL="0">
              <a:buNone/>
            </a:pPr>
            <a:r>
              <a:rPr lang="en-US" sz="2400" b="1" dirty="0">
                <a:solidFill>
                  <a:srgbClr val="FFFFFF"/>
                </a:solidFill>
                <a:latin typeface="Segoe UI" pitchFamily="34" charset="0"/>
                <a:ea typeface="Segoe UI" pitchFamily="34" charset="-122"/>
                <a:cs typeface="Segoe UI" pitchFamily="34" charset="-120"/>
              </a:rPr>
              <a:t>Measurable Edge Superiority &amp; The Future of Private Automation</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31520" y="1463040"/>
          <a:ext cx="10698480" cy="1920240"/>
        </p:xfrm>
        <a:graphic>
          <a:graphicData uri="http://schemas.openxmlformats.org/drawingml/2006/table">
            <a:tbl>
              <a:tblPr/>
              <a:tblGrid>
                <a:gridCol w="2674620"/>
                <a:gridCol w="2674620"/>
                <a:gridCol w="2674620"/>
                <a:gridCol w="2674620"/>
              </a:tblGrid>
              <a:tr h="320040">
                <a:tc>
                  <a:txBody>
                    <a:bodyPr/>
                    <a:lstStyle/>
                    <a:p>
                      <a:pPr algn="l" indent="0" marL="0">
                        <a:buNone/>
                      </a:pPr>
                      <a:r>
                        <a:rPr lang="en-US" sz="950" b="1" dirty="0">
                          <a:solidFill>
                            <a:srgbClr val="FFFFFF"/>
                          </a:solidFill>
                          <a:latin typeface="Segoe UI" pitchFamily="34" charset="0"/>
                          <a:ea typeface="Segoe UI" pitchFamily="34" charset="-122"/>
                          <a:cs typeface="Segoe UI" pitchFamily="34" charset="-120"/>
                        </a:rPr>
                        <a:t>Evaluation Dimension</a:t>
                      </a:r>
                      <a:endParaRPr lang="en-US" sz="950" dirty="0">
                        <a:latin typeface="Segoe UI" charset="0"/>
                        <a:ea typeface="Segoe UI" charset="0"/>
                        <a:cs typeface="Segoe U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50" b="1" dirty="0">
                          <a:solidFill>
                            <a:srgbClr val="F43F5E"/>
                          </a:solidFill>
                          <a:latin typeface="Segoe UI" pitchFamily="34" charset="0"/>
                          <a:ea typeface="Segoe UI" pitchFamily="34" charset="-122"/>
                          <a:cs typeface="Segoe UI" pitchFamily="34" charset="-120"/>
                        </a:rPr>
                        <a:t>Cloud AI Copilots (Notion AI, Copilot)</a:t>
                      </a:r>
                      <a:endParaRPr lang="en-US" sz="950" dirty="0">
                        <a:latin typeface="Segoe UI" charset="0"/>
                        <a:ea typeface="Segoe UI" charset="0"/>
                        <a:cs typeface="Segoe U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50" b="1" dirty="0">
                          <a:solidFill>
                            <a:srgbClr val="10B981"/>
                          </a:solidFill>
                          <a:latin typeface="Segoe UI" pitchFamily="34" charset="0"/>
                          <a:ea typeface="Segoe UI" pitchFamily="34" charset="-122"/>
                          <a:cs typeface="Segoe UI" pitchFamily="34" charset="-120"/>
                        </a:rPr>
                        <a:t>MemSync Edge Copilot</a:t>
                      </a:r>
                      <a:endParaRPr lang="en-US" sz="950" dirty="0">
                        <a:latin typeface="Segoe UI" charset="0"/>
                        <a:ea typeface="Segoe UI" charset="0"/>
                        <a:cs typeface="Segoe U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950" b="1" dirty="0">
                          <a:solidFill>
                            <a:srgbClr val="38BDF8"/>
                          </a:solidFill>
                          <a:latin typeface="Segoe UI" pitchFamily="34" charset="0"/>
                          <a:ea typeface="Segoe UI" pitchFamily="34" charset="-122"/>
                          <a:cs typeface="Segoe UI" pitchFamily="34" charset="-120"/>
                        </a:rPr>
                        <a:t>Edge Advantage</a:t>
                      </a:r>
                      <a:endParaRPr lang="en-US" sz="950" dirty="0">
                        <a:latin typeface="Segoe UI" charset="0"/>
                        <a:ea typeface="Segoe UI" charset="0"/>
                        <a:cs typeface="Segoe U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r>
              <a:tr h="320040">
                <a:tc>
                  <a:txBody>
                    <a:bodyPr/>
                    <a:lstStyle/>
                    <a:p>
                      <a:pPr algn="l" indent="0" marL="0">
                        <a:buNone/>
                      </a:pPr>
                      <a:r>
                        <a:rPr lang="en-US" sz="900" b="1" dirty="0">
                          <a:solidFill>
                            <a:srgbClr val="FFFFFF"/>
                          </a:solidFill>
                          <a:latin typeface="Segoe UI" pitchFamily="34" charset="0"/>
                          <a:ea typeface="Segoe UI" pitchFamily="34" charset="-122"/>
                          <a:cs typeface="Segoe UI" pitchFamily="34" charset="-120"/>
                        </a:rPr>
                        <a:t>Data Privacy &amp; IP</a:t>
                      </a:r>
                      <a:endParaRPr lang="en-US" sz="900" dirty="0">
                        <a:latin typeface="Segoe UI" charset="0"/>
                        <a:ea typeface="Segoe UI" charset="0"/>
                        <a:cs typeface="Segoe U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11827"/>
                    </a:solidFill>
                  </a:tcPr>
                </a:tc>
                <a:tc>
                  <a:txBody>
                    <a:bodyPr/>
                    <a:lstStyle/>
                    <a:p>
                      <a:pPr algn="l" indent="0" marL="0">
                        <a:buNone/>
                      </a:pPr>
                      <a:r>
                        <a:rPr lang="en-US" sz="900" dirty="0">
                          <a:solidFill>
                            <a:srgbClr val="E2E8F0"/>
                          </a:solidFill>
                          <a:latin typeface="Segoe UI" pitchFamily="34" charset="0"/>
                          <a:ea typeface="Segoe UI" pitchFamily="34" charset="-122"/>
                          <a:cs typeface="Segoe UI" pitchFamily="34" charset="-120"/>
                        </a:rPr>
                        <a:t>Code &amp; notes sent to cloud servers</a:t>
                      </a:r>
                      <a:endParaRPr lang="en-US" sz="900" dirty="0">
                        <a:latin typeface="Segoe UI" charset="0"/>
                        <a:ea typeface="Segoe UI" charset="0"/>
                        <a:cs typeface="Segoe U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11827"/>
                    </a:solidFill>
                  </a:tcPr>
                </a:tc>
                <a:tc>
                  <a:txBody>
                    <a:bodyPr/>
                    <a:lstStyle/>
                    <a:p>
                      <a:pPr algn="l" indent="0" marL="0">
                        <a:buNone/>
                      </a:pPr>
                      <a:r>
                        <a:rPr lang="en-US" sz="900" b="1" dirty="0">
                          <a:solidFill>
                            <a:srgbClr val="10B981"/>
                          </a:solidFill>
                          <a:latin typeface="Segoe UI" pitchFamily="34" charset="0"/>
                          <a:ea typeface="Segoe UI" pitchFamily="34" charset="-122"/>
                          <a:cs typeface="Segoe UI" pitchFamily="34" charset="-120"/>
                        </a:rPr>
                        <a:t>100% On-Device / Air-Gapped</a:t>
                      </a:r>
                      <a:endParaRPr lang="en-US" sz="900" dirty="0">
                        <a:latin typeface="Segoe UI" charset="0"/>
                        <a:ea typeface="Segoe UI" charset="0"/>
                        <a:cs typeface="Segoe U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11827"/>
                    </a:solidFill>
                  </a:tcPr>
                </a:tc>
                <a:tc>
                  <a:txBody>
                    <a:bodyPr/>
                    <a:lstStyle/>
                    <a:p>
                      <a:pPr algn="l" indent="0" marL="0">
                        <a:buNone/>
                      </a:pPr>
                      <a:r>
                        <a:rPr lang="en-US" sz="900" b="1" dirty="0">
                          <a:solidFill>
                            <a:srgbClr val="38BDF8"/>
                          </a:solidFill>
                          <a:latin typeface="Segoe UI" pitchFamily="34" charset="0"/>
                          <a:ea typeface="Segoe UI" pitchFamily="34" charset="-122"/>
                          <a:cs typeface="Segoe UI" pitchFamily="34" charset="-120"/>
                        </a:rPr>
                        <a:t>Zero Data Leakage</a:t>
                      </a:r>
                      <a:endParaRPr lang="en-US" sz="900" dirty="0">
                        <a:latin typeface="Segoe UI" charset="0"/>
                        <a:ea typeface="Segoe UI" charset="0"/>
                        <a:cs typeface="Segoe U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11827"/>
                    </a:solidFill>
                  </a:tcPr>
                </a:tc>
              </a:tr>
              <a:tr h="320040">
                <a:tc>
                  <a:txBody>
                    <a:bodyPr/>
                    <a:lstStyle/>
                    <a:p>
                      <a:pPr algn="l" indent="0" marL="0">
                        <a:buNone/>
                      </a:pPr>
                      <a:r>
                        <a:rPr lang="en-US" sz="900" b="1" dirty="0">
                          <a:solidFill>
                            <a:srgbClr val="FFFFFF"/>
                          </a:solidFill>
                          <a:latin typeface="Segoe UI" pitchFamily="34" charset="0"/>
                          <a:ea typeface="Segoe UI" pitchFamily="34" charset="-122"/>
                          <a:cs typeface="Segoe UI" pitchFamily="34" charset="-120"/>
                        </a:rPr>
                        <a:t>Subscription Cost</a:t>
                      </a:r>
                      <a:endParaRPr lang="en-US" sz="900" dirty="0">
                        <a:latin typeface="Segoe UI" charset="0"/>
                        <a:ea typeface="Segoe UI" charset="0"/>
                        <a:cs typeface="Segoe U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11827"/>
                    </a:solidFill>
                  </a:tcPr>
                </a:tc>
                <a:tc>
                  <a:txBody>
                    <a:bodyPr/>
                    <a:lstStyle/>
                    <a:p>
                      <a:pPr algn="l" indent="0" marL="0">
                        <a:buNone/>
                      </a:pPr>
                      <a:r>
                        <a:rPr lang="en-US" sz="900" dirty="0">
                          <a:solidFill>
                            <a:srgbClr val="E2E8F0"/>
                          </a:solidFill>
                          <a:latin typeface="Segoe UI" pitchFamily="34" charset="0"/>
                          <a:ea typeface="Segoe UI" pitchFamily="34" charset="-122"/>
                          <a:cs typeface="Segoe UI" pitchFamily="34" charset="-120"/>
                        </a:rPr>
                        <a:t>$10 – $30 / user / month</a:t>
                      </a:r>
                      <a:endParaRPr lang="en-US" sz="900" dirty="0">
                        <a:latin typeface="Segoe UI" charset="0"/>
                        <a:ea typeface="Segoe UI" charset="0"/>
                        <a:cs typeface="Segoe U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11827"/>
                    </a:solidFill>
                  </a:tcPr>
                </a:tc>
                <a:tc>
                  <a:txBody>
                    <a:bodyPr/>
                    <a:lstStyle/>
                    <a:p>
                      <a:pPr algn="l" indent="0" marL="0">
                        <a:buNone/>
                      </a:pPr>
                      <a:r>
                        <a:rPr lang="en-US" sz="900" b="1" dirty="0">
                          <a:solidFill>
                            <a:srgbClr val="10B981"/>
                          </a:solidFill>
                          <a:latin typeface="Segoe UI" pitchFamily="34" charset="0"/>
                          <a:ea typeface="Segoe UI" pitchFamily="34" charset="-122"/>
                          <a:cs typeface="Segoe UI" pitchFamily="34" charset="-120"/>
                        </a:rPr>
                        <a:t>$0.00 Forever (Self-Hosted SLM)</a:t>
                      </a:r>
                      <a:endParaRPr lang="en-US" sz="900" dirty="0">
                        <a:latin typeface="Segoe UI" charset="0"/>
                        <a:ea typeface="Segoe UI" charset="0"/>
                        <a:cs typeface="Segoe U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11827"/>
                    </a:solidFill>
                  </a:tcPr>
                </a:tc>
                <a:tc>
                  <a:txBody>
                    <a:bodyPr/>
                    <a:lstStyle/>
                    <a:p>
                      <a:pPr algn="l" indent="0" marL="0">
                        <a:buNone/>
                      </a:pPr>
                      <a:r>
                        <a:rPr lang="en-US" sz="900" b="1" dirty="0">
                          <a:solidFill>
                            <a:srgbClr val="38BDF8"/>
                          </a:solidFill>
                          <a:latin typeface="Segoe UI" pitchFamily="34" charset="0"/>
                          <a:ea typeface="Segoe UI" pitchFamily="34" charset="-122"/>
                          <a:cs typeface="Segoe UI" pitchFamily="34" charset="-120"/>
                        </a:rPr>
                        <a:t>Zero Marginal Cost</a:t>
                      </a:r>
                      <a:endParaRPr lang="en-US" sz="900" dirty="0">
                        <a:latin typeface="Segoe UI" charset="0"/>
                        <a:ea typeface="Segoe UI" charset="0"/>
                        <a:cs typeface="Segoe U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11827"/>
                    </a:solidFill>
                  </a:tcPr>
                </a:tc>
              </a:tr>
              <a:tr h="320040">
                <a:tc>
                  <a:txBody>
                    <a:bodyPr/>
                    <a:lstStyle/>
                    <a:p>
                      <a:pPr algn="l" indent="0" marL="0">
                        <a:buNone/>
                      </a:pPr>
                      <a:r>
                        <a:rPr lang="en-US" sz="900" b="1" dirty="0">
                          <a:solidFill>
                            <a:srgbClr val="FFFFFF"/>
                          </a:solidFill>
                          <a:latin typeface="Segoe UI" pitchFamily="34" charset="0"/>
                          <a:ea typeface="Segoe UI" pitchFamily="34" charset="-122"/>
                          <a:cs typeface="Segoe UI" pitchFamily="34" charset="-120"/>
                        </a:rPr>
                        <a:t>Offline Reliability</a:t>
                      </a:r>
                      <a:endParaRPr lang="en-US" sz="900" dirty="0">
                        <a:latin typeface="Segoe UI" charset="0"/>
                        <a:ea typeface="Segoe UI" charset="0"/>
                        <a:cs typeface="Segoe U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11827"/>
                    </a:solidFill>
                  </a:tcPr>
                </a:tc>
                <a:tc>
                  <a:txBody>
                    <a:bodyPr/>
                    <a:lstStyle/>
                    <a:p>
                      <a:pPr algn="l" indent="0" marL="0">
                        <a:buNone/>
                      </a:pPr>
                      <a:r>
                        <a:rPr lang="en-US" sz="900" dirty="0">
                          <a:solidFill>
                            <a:srgbClr val="E2E8F0"/>
                          </a:solidFill>
                          <a:latin typeface="Segoe UI" pitchFamily="34" charset="0"/>
                          <a:ea typeface="Segoe UI" pitchFamily="34" charset="-122"/>
                          <a:cs typeface="Segoe UI" pitchFamily="34" charset="-120"/>
                        </a:rPr>
                        <a:t>0% (Fails entirely without internet)</a:t>
                      </a:r>
                      <a:endParaRPr lang="en-US" sz="900" dirty="0">
                        <a:latin typeface="Segoe UI" charset="0"/>
                        <a:ea typeface="Segoe UI" charset="0"/>
                        <a:cs typeface="Segoe U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11827"/>
                    </a:solidFill>
                  </a:tcPr>
                </a:tc>
                <a:tc>
                  <a:txBody>
                    <a:bodyPr/>
                    <a:lstStyle/>
                    <a:p>
                      <a:pPr algn="l" indent="0" marL="0">
                        <a:buNone/>
                      </a:pPr>
                      <a:r>
                        <a:rPr lang="en-US" sz="900" b="1" dirty="0">
                          <a:solidFill>
                            <a:srgbClr val="10B981"/>
                          </a:solidFill>
                          <a:latin typeface="Segoe UI" pitchFamily="34" charset="0"/>
                          <a:ea typeface="Segoe UI" pitchFamily="34" charset="-122"/>
                          <a:cs typeface="Segoe UI" pitchFamily="34" charset="-120"/>
                        </a:rPr>
                        <a:t>100% Fully Offline Capable</a:t>
                      </a:r>
                      <a:endParaRPr lang="en-US" sz="900" dirty="0">
                        <a:latin typeface="Segoe UI" charset="0"/>
                        <a:ea typeface="Segoe UI" charset="0"/>
                        <a:cs typeface="Segoe U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11827"/>
                    </a:solidFill>
                  </a:tcPr>
                </a:tc>
                <a:tc>
                  <a:txBody>
                    <a:bodyPr/>
                    <a:lstStyle/>
                    <a:p>
                      <a:pPr algn="l" indent="0" marL="0">
                        <a:buNone/>
                      </a:pPr>
                      <a:r>
                        <a:rPr lang="en-US" sz="900" b="1" dirty="0">
                          <a:solidFill>
                            <a:srgbClr val="38BDF8"/>
                          </a:solidFill>
                          <a:latin typeface="Segoe UI" pitchFamily="34" charset="0"/>
                          <a:ea typeface="Segoe UI" pitchFamily="34" charset="-122"/>
                          <a:cs typeface="Segoe UI" pitchFamily="34" charset="-120"/>
                        </a:rPr>
                        <a:t>Works Anywhere</a:t>
                      </a:r>
                      <a:endParaRPr lang="en-US" sz="900" dirty="0">
                        <a:latin typeface="Segoe UI" charset="0"/>
                        <a:ea typeface="Segoe UI" charset="0"/>
                        <a:cs typeface="Segoe U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11827"/>
                    </a:solidFill>
                  </a:tcPr>
                </a:tc>
              </a:tr>
              <a:tr h="320040">
                <a:tc>
                  <a:txBody>
                    <a:bodyPr/>
                    <a:lstStyle/>
                    <a:p>
                      <a:pPr algn="l" indent="0" marL="0">
                        <a:buNone/>
                      </a:pPr>
                      <a:r>
                        <a:rPr lang="en-US" sz="900" b="1" dirty="0">
                          <a:solidFill>
                            <a:srgbClr val="FFFFFF"/>
                          </a:solidFill>
                          <a:latin typeface="Segoe UI" pitchFamily="34" charset="0"/>
                          <a:ea typeface="Segoe UI" pitchFamily="34" charset="-122"/>
                          <a:cs typeface="Segoe UI" pitchFamily="34" charset="-120"/>
                        </a:rPr>
                        <a:t>Failover Strategy</a:t>
                      </a:r>
                      <a:endParaRPr lang="en-US" sz="900" dirty="0">
                        <a:latin typeface="Segoe UI" charset="0"/>
                        <a:ea typeface="Segoe UI" charset="0"/>
                        <a:cs typeface="Segoe U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11827"/>
                    </a:solidFill>
                  </a:tcPr>
                </a:tc>
                <a:tc>
                  <a:txBody>
                    <a:bodyPr/>
                    <a:lstStyle/>
                    <a:p>
                      <a:pPr algn="l" indent="0" marL="0">
                        <a:buNone/>
                      </a:pPr>
                      <a:r>
                        <a:rPr lang="en-US" sz="900" dirty="0">
                          <a:solidFill>
                            <a:srgbClr val="E2E8F0"/>
                          </a:solidFill>
                          <a:latin typeface="Segoe UI" pitchFamily="34" charset="0"/>
                          <a:ea typeface="Segoe UI" pitchFamily="34" charset="-122"/>
                          <a:cs typeface="Segoe UI" pitchFamily="34" charset="-120"/>
                        </a:rPr>
                        <a:t>None (Endpoint timeout / error)</a:t>
                      </a:r>
                      <a:endParaRPr lang="en-US" sz="900" dirty="0">
                        <a:latin typeface="Segoe UI" charset="0"/>
                        <a:ea typeface="Segoe UI" charset="0"/>
                        <a:cs typeface="Segoe U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11827"/>
                    </a:solidFill>
                  </a:tcPr>
                </a:tc>
                <a:tc>
                  <a:txBody>
                    <a:bodyPr/>
                    <a:lstStyle/>
                    <a:p>
                      <a:pPr algn="l" indent="0" marL="0">
                        <a:buNone/>
                      </a:pPr>
                      <a:r>
                        <a:rPr lang="en-US" sz="900" b="1" dirty="0">
                          <a:solidFill>
                            <a:srgbClr val="10B981"/>
                          </a:solidFill>
                          <a:latin typeface="Segoe UI" pitchFamily="34" charset="0"/>
                          <a:ea typeface="Segoe UI" pitchFamily="34" charset="-122"/>
                          <a:cs typeface="Segoe UI" pitchFamily="34" charset="-120"/>
                        </a:rPr>
                        <a:t>&lt; 5ms Heuristic Parser Fallback</a:t>
                      </a:r>
                      <a:endParaRPr lang="en-US" sz="900" dirty="0">
                        <a:latin typeface="Segoe UI" charset="0"/>
                        <a:ea typeface="Segoe UI" charset="0"/>
                        <a:cs typeface="Segoe U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11827"/>
                    </a:solidFill>
                  </a:tcPr>
                </a:tc>
                <a:tc>
                  <a:txBody>
                    <a:bodyPr/>
                    <a:lstStyle/>
                    <a:p>
                      <a:pPr algn="l" indent="0" marL="0">
                        <a:buNone/>
                      </a:pPr>
                      <a:r>
                        <a:rPr lang="en-US" sz="900" b="1" dirty="0">
                          <a:solidFill>
                            <a:srgbClr val="38BDF8"/>
                          </a:solidFill>
                          <a:latin typeface="Segoe UI" pitchFamily="34" charset="0"/>
                          <a:ea typeface="Segoe UI" pitchFamily="34" charset="-122"/>
                          <a:cs typeface="Segoe UI" pitchFamily="34" charset="-120"/>
                        </a:rPr>
                        <a:t>100% Guaranteed Uptime</a:t>
                      </a:r>
                      <a:endParaRPr lang="en-US" sz="900" dirty="0">
                        <a:latin typeface="Segoe UI" charset="0"/>
                        <a:ea typeface="Segoe UI" charset="0"/>
                        <a:cs typeface="Segoe U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11827"/>
                    </a:solidFill>
                  </a:tcPr>
                </a:tc>
              </a:tr>
              <a:tr h="320040">
                <a:tc>
                  <a:txBody>
                    <a:bodyPr/>
                    <a:lstStyle/>
                    <a:p>
                      <a:pPr algn="l" indent="0" marL="0">
                        <a:buNone/>
                      </a:pPr>
                      <a:r>
                        <a:rPr lang="en-US" sz="900" b="1" dirty="0">
                          <a:solidFill>
                            <a:srgbClr val="FFFFFF"/>
                          </a:solidFill>
                          <a:latin typeface="Segoe UI" pitchFamily="34" charset="0"/>
                          <a:ea typeface="Segoe UI" pitchFamily="34" charset="-122"/>
                          <a:cs typeface="Segoe UI" pitchFamily="34" charset="-120"/>
                        </a:rPr>
                        <a:t>Read / Query Latency</a:t>
                      </a:r>
                      <a:endParaRPr lang="en-US" sz="900" dirty="0">
                        <a:latin typeface="Segoe UI" charset="0"/>
                        <a:ea typeface="Segoe UI" charset="0"/>
                        <a:cs typeface="Segoe U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11827"/>
                    </a:solidFill>
                  </a:tcPr>
                </a:tc>
                <a:tc>
                  <a:txBody>
                    <a:bodyPr/>
                    <a:lstStyle/>
                    <a:p>
                      <a:pPr algn="l" indent="0" marL="0">
                        <a:buNone/>
                      </a:pPr>
                      <a:r>
                        <a:rPr lang="en-US" sz="900" dirty="0">
                          <a:solidFill>
                            <a:srgbClr val="E2E8F0"/>
                          </a:solidFill>
                          <a:latin typeface="Segoe UI" pitchFamily="34" charset="0"/>
                          <a:ea typeface="Segoe UI" pitchFamily="34" charset="-122"/>
                          <a:cs typeface="Segoe UI" pitchFamily="34" charset="-120"/>
                        </a:rPr>
                        <a:t>800ms – 2,500ms (Network dependent)</a:t>
                      </a:r>
                      <a:endParaRPr lang="en-US" sz="900" dirty="0">
                        <a:latin typeface="Segoe UI" charset="0"/>
                        <a:ea typeface="Segoe UI" charset="0"/>
                        <a:cs typeface="Segoe U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11827"/>
                    </a:solidFill>
                  </a:tcPr>
                </a:tc>
                <a:tc>
                  <a:txBody>
                    <a:bodyPr/>
                    <a:lstStyle/>
                    <a:p>
                      <a:pPr algn="l" indent="0" marL="0">
                        <a:buNone/>
                      </a:pPr>
                      <a:r>
                        <a:rPr lang="en-US" sz="900" b="1" dirty="0">
                          <a:solidFill>
                            <a:srgbClr val="10B981"/>
                          </a:solidFill>
                          <a:latin typeface="Segoe UI" pitchFamily="34" charset="0"/>
                          <a:ea typeface="Segoe UI" pitchFamily="34" charset="-122"/>
                          <a:cs typeface="Segoe UI" pitchFamily="34" charset="-120"/>
                        </a:rPr>
                        <a:t>Sub-2ms Native SQLite WAL</a:t>
                      </a:r>
                      <a:endParaRPr lang="en-US" sz="900" dirty="0">
                        <a:latin typeface="Segoe UI" charset="0"/>
                        <a:ea typeface="Segoe UI" charset="0"/>
                        <a:cs typeface="Segoe U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11827"/>
                    </a:solidFill>
                  </a:tcPr>
                </a:tc>
                <a:tc>
                  <a:txBody>
                    <a:bodyPr/>
                    <a:lstStyle/>
                    <a:p>
                      <a:pPr algn="l" indent="0" marL="0">
                        <a:buNone/>
                      </a:pPr>
                      <a:r>
                        <a:rPr lang="en-US" sz="900" b="1" dirty="0">
                          <a:solidFill>
                            <a:srgbClr val="38BDF8"/>
                          </a:solidFill>
                          <a:latin typeface="Segoe UI" pitchFamily="34" charset="0"/>
                          <a:ea typeface="Segoe UI" pitchFamily="34" charset="-122"/>
                          <a:cs typeface="Segoe UI" pitchFamily="34" charset="-120"/>
                        </a:rPr>
                        <a:t>1,000x Faster Reads</a:t>
                      </a:r>
                      <a:endParaRPr lang="en-US" sz="900" dirty="0">
                        <a:latin typeface="Segoe UI" charset="0"/>
                        <a:ea typeface="Segoe UI" charset="0"/>
                        <a:cs typeface="Segoe UI" charset="0"/>
                      </a:endParaRPr>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11827"/>
                    </a:solidFill>
                  </a:tcPr>
                </a:tc>
              </a:tr>
            </a:tbl>
          </a:graphicData>
        </a:graphic>
      </p:graphicFrame>
      <p:sp>
        <p:nvSpPr>
          <p:cNvPr id="5" name="Shape 2"/>
          <p:cNvSpPr/>
          <p:nvPr/>
        </p:nvSpPr>
        <p:spPr>
          <a:xfrm>
            <a:off x="731520" y="3566160"/>
            <a:ext cx="10698480" cy="1463040"/>
          </a:xfrm>
          <a:prstGeom prst="roundRect">
            <a:avLst>
              <a:gd name="adj" fmla="val 5000"/>
            </a:avLst>
          </a:prstGeom>
          <a:solidFill>
            <a:srgbClr val="111827"/>
          </a:solidFill>
          <a:ln w="12700">
            <a:solidFill>
              <a:srgbClr val="3B82F6"/>
            </a:solidFill>
            <a:prstDash val="solid"/>
          </a:ln>
        </p:spPr>
      </p:sp>
      <p:sp>
        <p:nvSpPr>
          <p:cNvPr id="6" name="Text 3"/>
          <p:cNvSpPr/>
          <p:nvPr/>
        </p:nvSpPr>
        <p:spPr>
          <a:xfrm>
            <a:off x="914400" y="3703320"/>
            <a:ext cx="10332720" cy="228600"/>
          </a:xfrm>
          <a:prstGeom prst="rect">
            <a:avLst/>
          </a:prstGeom>
          <a:noFill/>
          <a:ln/>
        </p:spPr>
        <p:txBody>
          <a:bodyPr wrap="square" rtlCol="0" anchor="ctr"/>
          <a:lstStyle/>
          <a:p>
            <a:pPr indent="0" marL="0">
              <a:buNone/>
            </a:pPr>
            <a:r>
              <a:rPr lang="en-US" sz="1100" b="1" dirty="0">
                <a:solidFill>
                  <a:srgbClr val="38BDF8"/>
                </a:solidFill>
                <a:latin typeface="Segoe UI" pitchFamily="34" charset="0"/>
                <a:ea typeface="Segoe UI" pitchFamily="34" charset="-122"/>
                <a:cs typeface="Segoe UI" pitchFamily="34" charset="-120"/>
              </a:rPr>
              <a:t>🚀 IMMEDIATE POST-HACKATHON ROADMAP</a:t>
            </a:r>
            <a:endParaRPr lang="en-US" sz="1100" dirty="0"/>
          </a:p>
        </p:txBody>
      </p:sp>
      <p:sp>
        <p:nvSpPr>
          <p:cNvPr id="7" name="Text 4"/>
          <p:cNvSpPr/>
          <p:nvPr/>
        </p:nvSpPr>
        <p:spPr>
          <a:xfrm>
            <a:off x="914400" y="4023360"/>
            <a:ext cx="3291840" cy="228600"/>
          </a:xfrm>
          <a:prstGeom prst="rect">
            <a:avLst/>
          </a:prstGeom>
          <a:noFill/>
          <a:ln/>
        </p:spPr>
        <p:txBody>
          <a:bodyPr wrap="square" rtlCol="0" anchor="ctr"/>
          <a:lstStyle/>
          <a:p>
            <a:pPr indent="0" marL="0">
              <a:buNone/>
            </a:pPr>
            <a:r>
              <a:rPr lang="en-US" sz="1000" b="1" dirty="0">
                <a:solidFill>
                  <a:srgbClr val="FFFFFF"/>
                </a:solidFill>
                <a:latin typeface="Segoe UI" pitchFamily="34" charset="0"/>
                <a:ea typeface="Segoe UI" pitchFamily="34" charset="-122"/>
                <a:cs typeface="Segoe UI" pitchFamily="34" charset="-120"/>
              </a:rPr>
              <a:t>Phase 1: OS System Tray Daemon</a:t>
            </a:r>
            <a:endParaRPr lang="en-US" sz="1000" dirty="0"/>
          </a:p>
        </p:txBody>
      </p:sp>
      <p:sp>
        <p:nvSpPr>
          <p:cNvPr id="8" name="Text 5"/>
          <p:cNvSpPr/>
          <p:nvPr/>
        </p:nvSpPr>
        <p:spPr>
          <a:xfrm>
            <a:off x="914400" y="4297680"/>
            <a:ext cx="3291840" cy="640080"/>
          </a:xfrm>
          <a:prstGeom prst="rect">
            <a:avLst/>
          </a:prstGeom>
          <a:noFill/>
          <a:ln/>
        </p:spPr>
        <p:txBody>
          <a:bodyPr wrap="square" rtlCol="0" anchor="ctr"/>
          <a:lstStyle/>
          <a:p>
            <a:pPr indent="0" marL="0">
              <a:lnSpc>
                <a:spcPct val="110000"/>
              </a:lnSpc>
              <a:buNone/>
            </a:pPr>
            <a:r>
              <a:rPr lang="en-US" sz="880" dirty="0">
                <a:solidFill>
                  <a:srgbClr val="E2E8F0"/>
                </a:solidFill>
                <a:latin typeface="Segoe UI" pitchFamily="34" charset="0"/>
                <a:ea typeface="Segoe UI" pitchFamily="34" charset="-122"/>
                <a:cs typeface="Segoe UI" pitchFamily="34" charset="-120"/>
              </a:rPr>
              <a:t>Native background process that hooks into Git post-commit &amp; IDE window focus to trigger habit cues without opening the browser.</a:t>
            </a:r>
            <a:endParaRPr lang="en-US" sz="880" dirty="0"/>
          </a:p>
        </p:txBody>
      </p:sp>
      <p:sp>
        <p:nvSpPr>
          <p:cNvPr id="9" name="Text 6"/>
          <p:cNvSpPr/>
          <p:nvPr/>
        </p:nvSpPr>
        <p:spPr>
          <a:xfrm>
            <a:off x="4389120" y="4023360"/>
            <a:ext cx="3291840" cy="228600"/>
          </a:xfrm>
          <a:prstGeom prst="rect">
            <a:avLst/>
          </a:prstGeom>
          <a:noFill/>
          <a:ln/>
        </p:spPr>
        <p:txBody>
          <a:bodyPr wrap="square" rtlCol="0" anchor="ctr"/>
          <a:lstStyle/>
          <a:p>
            <a:pPr indent="0" marL="0">
              <a:buNone/>
            </a:pPr>
            <a:r>
              <a:rPr lang="en-US" sz="1000" b="1" dirty="0">
                <a:solidFill>
                  <a:srgbClr val="FFFFFF"/>
                </a:solidFill>
                <a:latin typeface="Segoe UI" pitchFamily="34" charset="0"/>
                <a:ea typeface="Segoe UI" pitchFamily="34" charset="-122"/>
                <a:cs typeface="Segoe UI" pitchFamily="34" charset="-120"/>
              </a:rPr>
              <a:t>Phase 2: Local Voice Ingestion</a:t>
            </a:r>
            <a:endParaRPr lang="en-US" sz="1000" dirty="0"/>
          </a:p>
        </p:txBody>
      </p:sp>
      <p:sp>
        <p:nvSpPr>
          <p:cNvPr id="10" name="Text 7"/>
          <p:cNvSpPr/>
          <p:nvPr/>
        </p:nvSpPr>
        <p:spPr>
          <a:xfrm>
            <a:off x="4389120" y="4297680"/>
            <a:ext cx="3291840" cy="640080"/>
          </a:xfrm>
          <a:prstGeom prst="rect">
            <a:avLst/>
          </a:prstGeom>
          <a:noFill/>
          <a:ln/>
        </p:spPr>
        <p:txBody>
          <a:bodyPr wrap="square" rtlCol="0" anchor="ctr"/>
          <a:lstStyle/>
          <a:p>
            <a:pPr indent="0" marL="0">
              <a:lnSpc>
                <a:spcPct val="110000"/>
              </a:lnSpc>
              <a:buNone/>
            </a:pPr>
            <a:r>
              <a:rPr lang="en-US" sz="880" dirty="0">
                <a:solidFill>
                  <a:srgbClr val="E2E8F0"/>
                </a:solidFill>
                <a:latin typeface="Segoe UI" pitchFamily="34" charset="0"/>
                <a:ea typeface="Segoe UI" pitchFamily="34" charset="-122"/>
                <a:cs typeface="Segoe UI" pitchFamily="34" charset="-120"/>
              </a:rPr>
              <a:t>Integrate local whisper.cpp speech-to-text for frictionless voice brain-dumps directly into the Context Stream.</a:t>
            </a:r>
            <a:endParaRPr lang="en-US" sz="880" dirty="0"/>
          </a:p>
        </p:txBody>
      </p:sp>
      <p:sp>
        <p:nvSpPr>
          <p:cNvPr id="11" name="Text 8"/>
          <p:cNvSpPr/>
          <p:nvPr/>
        </p:nvSpPr>
        <p:spPr>
          <a:xfrm>
            <a:off x="7863840" y="4023360"/>
            <a:ext cx="3291840" cy="228600"/>
          </a:xfrm>
          <a:prstGeom prst="rect">
            <a:avLst/>
          </a:prstGeom>
          <a:noFill/>
          <a:ln/>
        </p:spPr>
        <p:txBody>
          <a:bodyPr wrap="square" rtlCol="0" anchor="ctr"/>
          <a:lstStyle/>
          <a:p>
            <a:pPr indent="0" marL="0">
              <a:buNone/>
            </a:pPr>
            <a:r>
              <a:rPr lang="en-US" sz="1000" b="1" dirty="0">
                <a:solidFill>
                  <a:srgbClr val="FFFFFF"/>
                </a:solidFill>
                <a:latin typeface="Segoe UI" pitchFamily="34" charset="0"/>
                <a:ea typeface="Segoe UI" pitchFamily="34" charset="-122"/>
                <a:cs typeface="Segoe UI" pitchFamily="34" charset="-120"/>
              </a:rPr>
              <a:t>Phase 3: Multi-Repo Semantic Index</a:t>
            </a:r>
            <a:endParaRPr lang="en-US" sz="1000" dirty="0"/>
          </a:p>
        </p:txBody>
      </p:sp>
      <p:sp>
        <p:nvSpPr>
          <p:cNvPr id="12" name="Text 9"/>
          <p:cNvSpPr/>
          <p:nvPr/>
        </p:nvSpPr>
        <p:spPr>
          <a:xfrm>
            <a:off x="7863840" y="4297680"/>
            <a:ext cx="3291840" cy="640080"/>
          </a:xfrm>
          <a:prstGeom prst="rect">
            <a:avLst/>
          </a:prstGeom>
          <a:noFill/>
          <a:ln/>
        </p:spPr>
        <p:txBody>
          <a:bodyPr wrap="square" rtlCol="0" anchor="ctr"/>
          <a:lstStyle/>
          <a:p>
            <a:pPr indent="0" marL="0">
              <a:lnSpc>
                <a:spcPct val="110000"/>
              </a:lnSpc>
              <a:buNone/>
            </a:pPr>
            <a:r>
              <a:rPr lang="en-US" sz="880" dirty="0">
                <a:solidFill>
                  <a:srgbClr val="E2E8F0"/>
                </a:solidFill>
                <a:latin typeface="Segoe UI" pitchFamily="34" charset="0"/>
                <a:ea typeface="Segoe UI" pitchFamily="34" charset="-122"/>
                <a:cs typeface="Segoe UI" pitchFamily="34" charset="-120"/>
              </a:rPr>
              <a:t>Index uncommitted diffs, local branch histories, and team sprint retros across multiple workspace folders.</a:t>
            </a:r>
            <a:endParaRPr lang="en-US" sz="8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MemSync Edge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MemSync Pitch Deck - Edge-Orchestrated Habit &amp; Workflow Copilot</dc:title>
  <dc:subject>Hackathon Presentation Deck</dc:subject>
  <dc:creator>MemSync Team</dc:creator>
  <cp:lastModifiedBy>MemSync Team</cp:lastModifiedBy>
  <cp:revision>1</cp:revision>
  <dcterms:created xsi:type="dcterms:W3CDTF">2026-09-22T10:00:51Z</dcterms:created>
  <dcterms:modified xsi:type="dcterms:W3CDTF">2026-09-22T10:00:51Z</dcterms:modified>
</cp:coreProperties>
</file>